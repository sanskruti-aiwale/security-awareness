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5ed99b4-f6d5-607b-20d3-dfa35533e29f}">
          <p14:sldIdLst>
            <p14:sldId id="256"/>
            <p14:sldId id="257"/>
            <p14:sldId id="258"/>
          </p14:sldIdLst>
        </p14:section>
        <p14:section name="Phishing" id="{d36d6fc9-3e7c-4f24-82a2-9f7c387a0bcc}">
          <p14:sldIdLst>
            <p14:sldId id="259"/>
            <p14:sldId id="260"/>
          </p14:sldIdLst>
        </p14:section>
        <p14:section name="Passwords &amp; Devices" id="{7f8dbfe8-18fb-84cd-2a94-2ed31713f3e8}">
          <p14:sldIdLst>
            <p14:sldId id="261"/>
            <p14:sldId id="262"/>
          </p14:sldIdLst>
        </p14:section>
        <p14:section name="Case Study &amp; Response" id="{4ee9da27-4e34-4e78-4ef3-fcd01aadf2ac}">
          <p14:sldIdLst>
            <p14:sldId id="263"/>
            <p14:sldId id="264"/>
          </p14:sldIdLst>
        </p14:section>
        <p14:section name="Wrap-up" id="{c672d6e9-8ebe-0aaf-0dca-5c20e46bc01b}">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is about the human side of security. Technology can block a lot, but attackers know it is often easier to fool a person than to break a system. This training takes about 10 minutes and needs no technical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numbers. Verizon's 2024 Data Breach Investigations Report found a human element in about 68% of breaches. IBM's 2024 Cost of a Data Breach report put the global average at $4.88M. Point: attackers go where it is easiest, and that is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modules. Each one is short and practical, built so anyone can apply it the same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red flags cover most phishing emails. Urgency is the big one: attackers want you to act before you think. The right-hand box is the habit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numbered flags. 1: the domain is company-support with a zero in place of the o. 2: artificial deadline. 3: the link text does not match any real company site. Tell people to hover over links to see the true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Length beats complexity. A passphrase of four random words is easy to remember and very hard to crack. Pair it with a password manager so every account has a unique one, and turn on MFA wherever it is offered.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simple habits. None need technical skill. The big ones: install updates, lock your screen, and never plug in a USB drive you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September 2023 attackers publicly linked to the Scattered Spider group reportedly phoned MGM's IT help desk posing as an employee and got access reset. Ransomware followed, disrupting hotel and casino operations. MGM later reported roughly $100M in impact. Details here are from public reports; double-check figures before presenting. The lesson: verify identity every single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clear there is no blame. People hide mistakes when they fear punishment, and the damage grows with every hour. Fast reporting is the single most useful thing any employee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repeating the four habits. Invite questions. Mention where to report suspicious messages and who to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548640" y="822960"/>
            <a:ext cx="4937760" cy="19202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4" name="Text 1"/>
          <p:cNvSpPr/>
          <p:nvPr>
            <p:ph idx="102" type="body" hasCustomPrompt="1"/>
          </p:nvPr>
        </p:nvSpPr>
        <p:spPr>
          <a:xfrm>
            <a:off x="548640" y="2926080"/>
            <a:ext cx="4937760" cy="8229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548640" y="502920"/>
            <a:ext cx="8046720" cy="6400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457200"/>
            <a:ext cx="493776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SECURITY AWARENESS TRAINING</a:t>
            </a:r>
            <a:endParaRPr lang="en-US" sz="1200" dirty="0"/>
          </a:p>
        </p:txBody>
      </p:sp>
      <p:sp>
        <p:nvSpPr>
          <p:cNvPr id="3" name="Text 1"/>
          <p:cNvSpPr/>
          <p:nvPr>
            <p:ph idx="101" type="title" hasCustomPrompt="1"/>
          </p:nvPr>
        </p:nvSpPr>
        <p:spPr>
          <a:xfrm>
            <a:off x="548640" y="822960"/>
            <a:ext cx="4937760" cy="1920240"/>
          </a:xfrm>
          <a:prstGeom prst="rect">
            <a:avLst/>
          </a:prstGeom>
          <a:noFill/>
          <a:ln/>
        </p:spPr>
        <p:txBody>
          <a:bodyPr wrap="square" lIns="0" tIns="0" rIns="0" bIns="0" rtlCol="0" anchor="b"/>
          <a:lstStyle/>
          <a:p>
            <a:pPr algn="l" indent="0" marL="0">
              <a:buNone/>
            </a:pPr>
            <a:r>
              <a:rPr lang="en-US" sz="3800" b="1" dirty="0">
                <a:solidFill>
                  <a:schemeClr val="bg1"/>
                </a:solidFill>
              </a:rPr>
              <a:t>Security Is Only As Strong As the People</a:t>
            </a:r>
            <a:endParaRPr lang="en-US" sz="3800" dirty="0"/>
          </a:p>
        </p:txBody>
      </p:sp>
      <p:sp>
        <p:nvSpPr>
          <p:cNvPr id="4" name="Text 1"/>
          <p:cNvSpPr/>
          <p:nvPr>
            <p:ph idx="102" type="body" hasCustomPrompt="1"/>
          </p:nvPr>
        </p:nvSpPr>
        <p:spPr>
          <a:xfrm>
            <a:off x="548640" y="2926080"/>
            <a:ext cx="4937760" cy="822960"/>
          </a:xfrm>
          <a:prstGeom prst="rect">
            <a:avLst/>
          </a:prstGeom>
          <a:noFill/>
          <a:ln/>
        </p:spPr>
        <p:txBody>
          <a:bodyPr wrap="square" lIns="0" tIns="0" rIns="0" bIns="0" rtlCol="0" anchor="t"/>
          <a:lstStyle/>
          <a:p>
            <a:pPr algn="l" indent="0" marL="0">
              <a:buNone/>
            </a:pPr>
            <a:r>
              <a:rPr lang="en-US" sz="1800" dirty="0">
                <a:solidFill>
                  <a:schemeClr val="bg2"/>
                </a:solidFill>
              </a:rPr>
              <a:t>Phishing · Passwords · Device Safety</a:t>
            </a:r>
            <a:endParaRPr lang="en-US" sz="1800" dirty="0"/>
          </a:p>
        </p:txBody>
      </p:sp>
      <p:sp>
        <p:nvSpPr>
          <p:cNvPr id="5" name="Ring 1"/>
          <p:cNvSpPr/>
          <p:nvPr/>
        </p:nvSpPr>
        <p:spPr>
          <a:xfrm>
            <a:off x="4937760" y="548640"/>
            <a:ext cx="4023360" cy="4023360"/>
          </a:xfrm>
          <a:prstGeom prst="ellipse">
            <a:avLst/>
          </a:prstGeom>
          <a:solidFill>
            <a:schemeClr val="accent1">
              <a:alpha val="8000"/>
            </a:schemeClr>
          </a:solidFill>
          <a:ln w="12700">
            <a:solidFill>
              <a:schemeClr val="accent1"/>
            </a:solidFill>
            <a:prstDash val="solid"/>
          </a:ln>
        </p:spPr>
      </p:sp>
      <p:sp>
        <p:nvSpPr>
          <p:cNvPr id="6" name="Ring 2"/>
          <p:cNvSpPr/>
          <p:nvPr/>
        </p:nvSpPr>
        <p:spPr>
          <a:xfrm>
            <a:off x="5440680" y="1051560"/>
            <a:ext cx="3017520" cy="3017520"/>
          </a:xfrm>
          <a:prstGeom prst="ellipse">
            <a:avLst/>
          </a:prstGeom>
          <a:solidFill>
            <a:schemeClr val="accent1">
              <a:alpha val="12000"/>
            </a:schemeClr>
          </a:solidFill>
          <a:ln w="12700">
            <a:solidFill>
              <a:schemeClr val="accent1"/>
            </a:solidFill>
            <a:prstDash val="solid"/>
          </a:ln>
        </p:spPr>
      </p:sp>
      <p:sp>
        <p:nvSpPr>
          <p:cNvPr id="7" name="Ring 3"/>
          <p:cNvSpPr/>
          <p:nvPr/>
        </p:nvSpPr>
        <p:spPr>
          <a:xfrm>
            <a:off x="5897880" y="1508760"/>
            <a:ext cx="2103120" cy="2103120"/>
          </a:xfrm>
          <a:prstGeom prst="ellipse">
            <a:avLst/>
          </a:prstGeom>
          <a:solidFill>
            <a:schemeClr val="accent1">
              <a:alpha val="16000"/>
            </a:schemeClr>
          </a:solidFill>
          <a:ln w="12700">
            <a:solidFill>
              <a:schemeClr val="accent1"/>
            </a:solidFill>
            <a:prstDash val="solid"/>
          </a:ln>
        </p:spPr>
      </p:sp>
      <p:pic>
        <p:nvPicPr>
          <p:cNvPr id="8" name="Image 0" descr="Shield icon">    </p:cNvPr>
          <p:cNvPicPr>
            <a:picLocks noChangeAspect="1"/>
          </p:cNvPicPr>
          <p:nvPr/>
        </p:nvPicPr>
        <p:blipFill>
          <a:blip r:embed="rId1"/>
          <a:stretch>
            <a:fillRect/>
          </a:stretch>
        </p:blipFill>
        <p:spPr>
          <a:xfrm>
            <a:off x="6446520" y="2057400"/>
            <a:ext cx="1005840" cy="1005840"/>
          </a:xfrm>
          <a:prstGeom prst="rect">
            <a:avLst/>
          </a:prstGeom>
        </p:spPr>
      </p:pic>
      <p:sp>
        <p:nvSpPr>
          <p:cNvPr id="9" name="Footer tag"/>
          <p:cNvSpPr txBox="1"/>
          <p:nvPr/>
        </p:nvSpPr>
        <p:spPr>
          <a:xfrm>
            <a:off x="548640" y="4526280"/>
            <a:ext cx="4572000" cy="274320"/>
          </a:xfrm>
          <a:prstGeom prst="rect">
            <a:avLst/>
          </a:prstGeom>
          <a:noFill/>
          <a:ln/>
        </p:spPr>
        <p:txBody>
          <a:bodyPr wrap="square" lIns="0" tIns="0" rIns="0" bIns="0" rtlCol="0" anchor="ctr"/>
          <a:lstStyle/>
          <a:p>
            <a:pPr indent="0" marL="0">
              <a:buNone/>
            </a:pPr>
            <a:r>
              <a:rPr lang="en-US" sz="1200" dirty="0">
                <a:solidFill>
                  <a:schemeClr val="bg2"/>
                </a:solidFill>
              </a:rPr>
              <a:t>Social Engineering &amp; Awareness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label"/>
          <p:cNvSpPr txBox="1"/>
          <p:nvPr/>
        </p:nvSpPr>
        <p:spPr>
          <a:xfrm>
            <a:off x="548640" y="256032"/>
            <a:ext cx="804672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WHY IT MATTERS</a:t>
            </a:r>
            <a:endParaRPr lang="en-US" sz="1100" dirty="0"/>
          </a:p>
        </p:txBody>
      </p:sp>
      <p:sp>
        <p:nvSpPr>
          <p:cNvPr id="3" name="Text 1"/>
          <p:cNvSpPr/>
          <p:nvPr>
            <p:ph idx="101" type="title" hasCustomPrompt="1"/>
          </p:nvPr>
        </p:nvSpPr>
        <p:spPr>
          <a:xfrm>
            <a:off x="548640" y="502920"/>
            <a:ext cx="8046720" cy="640080"/>
          </a:xfrm>
          <a:prstGeom prst="rect">
            <a:avLst/>
          </a:prstGeom>
          <a:noFill/>
          <a:ln/>
        </p:spPr>
        <p:txBody>
          <a:bodyPr wrap="square" lIns="0" tIns="0" rIns="0" bIns="0" rtlCol="0" anchor="ctr"/>
          <a:lstStyle/>
          <a:p>
            <a:pPr algn="l" indent="0" marL="0">
              <a:buNone/>
            </a:pPr>
            <a:r>
              <a:rPr lang="en-US" sz="3400" b="1" dirty="0">
                <a:solidFill>
                  <a:schemeClr val="bg1"/>
                </a:solidFill>
              </a:rPr>
              <a:t>Why People Are the Target</a:t>
            </a:r>
            <a:endParaRPr lang="en-US" sz="3400" dirty="0"/>
          </a:p>
        </p:txBody>
      </p:sp>
      <p:sp>
        <p:nvSpPr>
          <p:cNvPr id="5" name="Stat card 1"/>
          <p:cNvSpPr/>
          <p:nvPr/>
        </p:nvSpPr>
        <p:spPr>
          <a:xfrm>
            <a:off x="548640" y="1463040"/>
            <a:ext cx="2514600" cy="2286000"/>
          </a:xfrm>
          <a:prstGeom prst="roundRect">
            <a:avLst>
              <a:gd name="adj" fmla="val 4800"/>
            </a:avLst>
          </a:prstGeom>
          <a:solidFill>
            <a:schemeClr val="tx2"/>
          </a:solidFill>
          <a:ln w="12700">
            <a:solidFill>
              <a:schemeClr val="tx2"/>
            </a:solidFill>
            <a:prstDash val="solid"/>
          </a:ln>
        </p:spPr>
      </p:sp>
      <p:sp>
        <p:nvSpPr>
          <p:cNvPr id="6" name="Stat value 1"/>
          <p:cNvSpPr txBox="1"/>
          <p:nvPr/>
        </p:nvSpPr>
        <p:spPr>
          <a:xfrm>
            <a:off x="731520" y="1645920"/>
            <a:ext cx="2148840" cy="822960"/>
          </a:xfrm>
          <a:prstGeom prst="rect">
            <a:avLst/>
          </a:prstGeom>
          <a:noFill/>
          <a:ln/>
        </p:spPr>
        <p:txBody>
          <a:bodyPr wrap="square" lIns="0" tIns="0" rIns="0" bIns="0" rtlCol="0" anchor="ctr"/>
          <a:lstStyle/>
          <a:p>
            <a:pPr indent="0" marL="0">
              <a:buNone/>
            </a:pPr>
            <a:r>
              <a:rPr lang="en-US" sz="4400" b="1" dirty="0">
                <a:solidFill>
                  <a:schemeClr val="accent1"/>
                </a:solidFill>
              </a:rPr>
              <a:t>68%</a:t>
            </a:r>
            <a:endParaRPr lang="en-US" sz="4400" dirty="0"/>
          </a:p>
        </p:txBody>
      </p:sp>
      <p:sp>
        <p:nvSpPr>
          <p:cNvPr id="7" name="Stat label 1"/>
          <p:cNvSpPr txBox="1"/>
          <p:nvPr/>
        </p:nvSpPr>
        <p:spPr>
          <a:xfrm>
            <a:off x="731520" y="2514600"/>
            <a:ext cx="2148840" cy="777240"/>
          </a:xfrm>
          <a:prstGeom prst="rect">
            <a:avLst/>
          </a:prstGeom>
          <a:noFill/>
          <a:ln/>
        </p:spPr>
        <p:txBody>
          <a:bodyPr wrap="square" lIns="0" tIns="0" rIns="0" bIns="0" rtlCol="0" anchor="t"/>
          <a:lstStyle/>
          <a:p>
            <a:pPr indent="0" marL="0">
              <a:buNone/>
            </a:pPr>
            <a:r>
              <a:rPr lang="en-US" sz="1600" dirty="0">
                <a:solidFill>
                  <a:schemeClr val="bg1"/>
                </a:solidFill>
              </a:rPr>
              <a:t>of breaches involve a human element</a:t>
            </a:r>
            <a:endParaRPr lang="en-US" sz="1600" dirty="0"/>
          </a:p>
        </p:txBody>
      </p:sp>
      <p:sp>
        <p:nvSpPr>
          <p:cNvPr id="8" name="Stat source 1"/>
          <p:cNvSpPr txBox="1"/>
          <p:nvPr/>
        </p:nvSpPr>
        <p:spPr>
          <a:xfrm>
            <a:off x="731520" y="3337560"/>
            <a:ext cx="2148840" cy="274320"/>
          </a:xfrm>
          <a:prstGeom prst="rect">
            <a:avLst/>
          </a:prstGeom>
          <a:noFill/>
          <a:ln/>
        </p:spPr>
        <p:txBody>
          <a:bodyPr wrap="square" lIns="0" tIns="0" rIns="0" bIns="0" rtlCol="0" anchor="ctr"/>
          <a:lstStyle/>
          <a:p>
            <a:pPr indent="0" marL="0">
              <a:buNone/>
            </a:pPr>
            <a:r>
              <a:rPr lang="en-US" sz="1100" dirty="0">
                <a:solidFill>
                  <a:schemeClr val="bg2"/>
                </a:solidFill>
              </a:rPr>
              <a:t>Verizon DBIR 2024</a:t>
            </a:r>
            <a:endParaRPr lang="en-US" sz="1100" dirty="0"/>
          </a:p>
        </p:txBody>
      </p:sp>
      <p:sp>
        <p:nvSpPr>
          <p:cNvPr id="9" name="Stat card 2"/>
          <p:cNvSpPr/>
          <p:nvPr/>
        </p:nvSpPr>
        <p:spPr>
          <a:xfrm>
            <a:off x="3337560" y="1463040"/>
            <a:ext cx="2514600" cy="2286000"/>
          </a:xfrm>
          <a:prstGeom prst="roundRect">
            <a:avLst>
              <a:gd name="adj" fmla="val 4800"/>
            </a:avLst>
          </a:prstGeom>
          <a:solidFill>
            <a:schemeClr val="tx2"/>
          </a:solidFill>
          <a:ln w="12700">
            <a:solidFill>
              <a:schemeClr val="tx2"/>
            </a:solidFill>
            <a:prstDash val="solid"/>
          </a:ln>
        </p:spPr>
      </p:sp>
      <p:sp>
        <p:nvSpPr>
          <p:cNvPr id="10" name="Stat value 2"/>
          <p:cNvSpPr txBox="1"/>
          <p:nvPr/>
        </p:nvSpPr>
        <p:spPr>
          <a:xfrm>
            <a:off x="3520440" y="1645920"/>
            <a:ext cx="2148840" cy="822960"/>
          </a:xfrm>
          <a:prstGeom prst="rect">
            <a:avLst/>
          </a:prstGeom>
          <a:noFill/>
          <a:ln/>
        </p:spPr>
        <p:txBody>
          <a:bodyPr wrap="square" lIns="0" tIns="0" rIns="0" bIns="0" rtlCol="0" anchor="ctr"/>
          <a:lstStyle/>
          <a:p>
            <a:pPr indent="0" marL="0">
              <a:buNone/>
            </a:pPr>
            <a:r>
              <a:rPr lang="en-US" sz="4400" b="1" dirty="0">
                <a:solidFill>
                  <a:schemeClr val="accent4"/>
                </a:solidFill>
              </a:rPr>
              <a:t>$4.88M</a:t>
            </a:r>
            <a:endParaRPr lang="en-US" sz="4400" dirty="0"/>
          </a:p>
        </p:txBody>
      </p:sp>
      <p:sp>
        <p:nvSpPr>
          <p:cNvPr id="11" name="Stat label 2"/>
          <p:cNvSpPr txBox="1"/>
          <p:nvPr/>
        </p:nvSpPr>
        <p:spPr>
          <a:xfrm>
            <a:off x="3520440" y="2514600"/>
            <a:ext cx="2148840" cy="777240"/>
          </a:xfrm>
          <a:prstGeom prst="rect">
            <a:avLst/>
          </a:prstGeom>
          <a:noFill/>
          <a:ln/>
        </p:spPr>
        <p:txBody>
          <a:bodyPr wrap="square" lIns="0" tIns="0" rIns="0" bIns="0" rtlCol="0" anchor="t"/>
          <a:lstStyle/>
          <a:p>
            <a:pPr indent="0" marL="0">
              <a:buNone/>
            </a:pPr>
            <a:r>
              <a:rPr lang="en-US" sz="1600" dirty="0">
                <a:solidFill>
                  <a:schemeClr val="bg1"/>
                </a:solidFill>
              </a:rPr>
              <a:t>average cost of a data breach</a:t>
            </a:r>
            <a:endParaRPr lang="en-US" sz="1600" dirty="0"/>
          </a:p>
        </p:txBody>
      </p:sp>
      <p:sp>
        <p:nvSpPr>
          <p:cNvPr id="12" name="Stat source 2"/>
          <p:cNvSpPr txBox="1"/>
          <p:nvPr/>
        </p:nvSpPr>
        <p:spPr>
          <a:xfrm>
            <a:off x="3520440" y="3337560"/>
            <a:ext cx="2148840" cy="274320"/>
          </a:xfrm>
          <a:prstGeom prst="rect">
            <a:avLst/>
          </a:prstGeom>
          <a:noFill/>
          <a:ln/>
        </p:spPr>
        <p:txBody>
          <a:bodyPr wrap="square" lIns="0" tIns="0" rIns="0" bIns="0" rtlCol="0" anchor="ctr"/>
          <a:lstStyle/>
          <a:p>
            <a:pPr indent="0" marL="0">
              <a:buNone/>
            </a:pPr>
            <a:r>
              <a:rPr lang="en-US" sz="1100" dirty="0">
                <a:solidFill>
                  <a:schemeClr val="bg2"/>
                </a:solidFill>
              </a:rPr>
              <a:t>IBM, 2024</a:t>
            </a:r>
            <a:endParaRPr lang="en-US" sz="1100" dirty="0"/>
          </a:p>
        </p:txBody>
      </p:sp>
      <p:sp>
        <p:nvSpPr>
          <p:cNvPr id="13" name="Stat card 3"/>
          <p:cNvSpPr/>
          <p:nvPr/>
        </p:nvSpPr>
        <p:spPr>
          <a:xfrm>
            <a:off x="6126480" y="1463040"/>
            <a:ext cx="2514600" cy="2286000"/>
          </a:xfrm>
          <a:prstGeom prst="roundRect">
            <a:avLst>
              <a:gd name="adj" fmla="val 4800"/>
            </a:avLst>
          </a:prstGeom>
          <a:solidFill>
            <a:schemeClr val="tx2"/>
          </a:solidFill>
          <a:ln w="12700">
            <a:solidFill>
              <a:schemeClr val="tx2"/>
            </a:solidFill>
            <a:prstDash val="solid"/>
          </a:ln>
        </p:spPr>
      </p:sp>
      <p:sp>
        <p:nvSpPr>
          <p:cNvPr id="14" name="Stat value 3"/>
          <p:cNvSpPr txBox="1"/>
          <p:nvPr/>
        </p:nvSpPr>
        <p:spPr>
          <a:xfrm>
            <a:off x="6309360" y="1645920"/>
            <a:ext cx="2148840" cy="822960"/>
          </a:xfrm>
          <a:prstGeom prst="rect">
            <a:avLst/>
          </a:prstGeom>
          <a:noFill/>
          <a:ln/>
        </p:spPr>
        <p:txBody>
          <a:bodyPr wrap="square" lIns="0" tIns="0" rIns="0" bIns="0" rtlCol="0" anchor="ctr"/>
          <a:lstStyle/>
          <a:p>
            <a:pPr indent="0" marL="0">
              <a:buNone/>
            </a:pPr>
            <a:r>
              <a:rPr lang="en-US" sz="4400" b="1" dirty="0">
                <a:solidFill>
                  <a:schemeClr val="accent3"/>
                </a:solidFill>
              </a:rPr>
              <a:t>1 click</a:t>
            </a:r>
            <a:endParaRPr lang="en-US" sz="4400" dirty="0"/>
          </a:p>
        </p:txBody>
      </p:sp>
      <p:sp>
        <p:nvSpPr>
          <p:cNvPr id="15" name="Stat label 3"/>
          <p:cNvSpPr txBox="1"/>
          <p:nvPr/>
        </p:nvSpPr>
        <p:spPr>
          <a:xfrm>
            <a:off x="6309360" y="2514600"/>
            <a:ext cx="2148840" cy="777240"/>
          </a:xfrm>
          <a:prstGeom prst="rect">
            <a:avLst/>
          </a:prstGeom>
          <a:noFill/>
          <a:ln/>
        </p:spPr>
        <p:txBody>
          <a:bodyPr wrap="square" lIns="0" tIns="0" rIns="0" bIns="0" rtlCol="0" anchor="t"/>
          <a:lstStyle/>
          <a:p>
            <a:pPr indent="0" marL="0">
              <a:buNone/>
            </a:pPr>
            <a:r>
              <a:rPr lang="en-US" sz="1600" dirty="0">
                <a:solidFill>
                  <a:schemeClr val="bg1"/>
                </a:solidFill>
              </a:rPr>
              <a:t>can be all an attacker needs to get in</a:t>
            </a:r>
            <a:endParaRPr lang="en-US" sz="1600" dirty="0"/>
          </a:p>
        </p:txBody>
      </p:sp>
      <p:sp>
        <p:nvSpPr>
          <p:cNvPr id="16" name="Stat source 3"/>
          <p:cNvSpPr txBox="1"/>
          <p:nvPr/>
        </p:nvSpPr>
        <p:spPr>
          <a:xfrm>
            <a:off x="6309360" y="3337560"/>
            <a:ext cx="2148840" cy="274320"/>
          </a:xfrm>
          <a:prstGeom prst="rect">
            <a:avLst/>
          </a:prstGeom>
          <a:noFill/>
          <a:ln/>
        </p:spPr>
        <p:txBody>
          <a:bodyPr wrap="square" lIns="0" tIns="0" rIns="0" bIns="0" rtlCol="0" anchor="ctr"/>
          <a:lstStyle/>
          <a:p>
            <a:pPr indent="0" marL="0">
              <a:buNone/>
            </a:pPr>
            <a:r>
              <a:rPr lang="en-US" sz="1100" dirty="0">
                <a:solidFill>
                  <a:schemeClr val="bg2"/>
                </a:solidFill>
              </a:rPr>
              <a:t>Why speed matters</a:t>
            </a:r>
            <a:endParaRPr lang="en-US" sz="1100" dirty="0"/>
          </a:p>
        </p:txBody>
      </p:sp>
      <p:sp>
        <p:nvSpPr>
          <p:cNvPr id="17" name="Takeaway line"/>
          <p:cNvSpPr txBox="1"/>
          <p:nvPr/>
        </p:nvSpPr>
        <p:spPr>
          <a:xfrm>
            <a:off x="548640" y="4069080"/>
            <a:ext cx="8046720" cy="457200"/>
          </a:xfrm>
          <a:prstGeom prst="rect">
            <a:avLst/>
          </a:prstGeom>
          <a:noFill/>
          <a:ln/>
        </p:spPr>
        <p:txBody>
          <a:bodyPr wrap="square" lIns="0" tIns="0" rIns="0" bIns="0" rtlCol="0" anchor="ctr"/>
          <a:lstStyle/>
          <a:p>
            <a:pPr indent="0" marL="0">
              <a:buNone/>
            </a:pPr>
            <a:r>
              <a:rPr lang="en-US" sz="1800" i="1" dirty="0">
                <a:solidFill>
                  <a:schemeClr val="bg2"/>
                </a:solidFill>
              </a:rPr>
              <a:t>Attackers go after people because it’s easier than breaking technology.</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label"/>
          <p:cNvSpPr txBox="1"/>
          <p:nvPr/>
        </p:nvSpPr>
        <p:spPr>
          <a:xfrm>
            <a:off x="548640" y="256032"/>
            <a:ext cx="804672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ROADMAP</a:t>
            </a:r>
            <a:endParaRPr lang="en-US" sz="1100" dirty="0"/>
          </a:p>
        </p:txBody>
      </p:sp>
      <p:sp>
        <p:nvSpPr>
          <p:cNvPr id="3" name="Text 1"/>
          <p:cNvSpPr/>
          <p:nvPr>
            <p:ph idx="101" type="title" hasCustomPrompt="1"/>
          </p:nvPr>
        </p:nvSpPr>
        <p:spPr>
          <a:xfrm>
            <a:off x="548640" y="502920"/>
            <a:ext cx="8046720" cy="640080"/>
          </a:xfrm>
          <a:prstGeom prst="rect">
            <a:avLst/>
          </a:prstGeom>
          <a:noFill/>
          <a:ln/>
        </p:spPr>
        <p:txBody>
          <a:bodyPr wrap="square" lIns="0" tIns="0" rIns="0" bIns="0" rtlCol="0" anchor="ctr"/>
          <a:lstStyle/>
          <a:p>
            <a:pPr algn="l" indent="0" marL="0">
              <a:buNone/>
            </a:pPr>
            <a:r>
              <a:rPr lang="en-US" sz="3400" b="1" dirty="0">
                <a:solidFill>
                  <a:schemeClr val="bg1"/>
                </a:solidFill>
              </a:rPr>
              <a:t>Your Training Roadmap</a:t>
            </a:r>
            <a:endParaRPr lang="en-US" sz="3400" dirty="0"/>
          </a:p>
        </p:txBody>
      </p:sp>
      <p:sp>
        <p:nvSpPr>
          <p:cNvPr id="5" name="Module card 1"/>
          <p:cNvSpPr/>
          <p:nvPr/>
        </p:nvSpPr>
        <p:spPr>
          <a:xfrm>
            <a:off x="548640" y="1417320"/>
            <a:ext cx="3931920" cy="1463040"/>
          </a:xfrm>
          <a:prstGeom prst="roundRect">
            <a:avLst>
              <a:gd name="adj" fmla="val 7500"/>
            </a:avLst>
          </a:prstGeom>
          <a:solidFill>
            <a:schemeClr val="tx2"/>
          </a:solidFill>
          <a:ln w="12700">
            <a:solidFill>
              <a:schemeClr val="tx2"/>
            </a:solidFill>
            <a:prstDash val="solid"/>
          </a:ln>
        </p:spPr>
      </p:sp>
      <p:sp>
        <p:nvSpPr>
          <p:cNvPr id="6" name="Module 1 badge"/>
          <p:cNvSpPr/>
          <p:nvPr/>
        </p:nvSpPr>
        <p:spPr>
          <a:xfrm>
            <a:off x="777240" y="1691640"/>
            <a:ext cx="731520" cy="731520"/>
          </a:xfrm>
          <a:prstGeom prst="ellipse">
            <a:avLst/>
          </a:prstGeom>
          <a:solidFill>
            <a:schemeClr val="accent1">
              <a:alpha val="20000"/>
            </a:schemeClr>
          </a:solidFill>
          <a:ln w="12700">
            <a:solidFill>
              <a:schemeClr val="accent1"/>
            </a:solidFill>
            <a:prstDash val="solid"/>
          </a:ln>
        </p:spPr>
      </p:sp>
      <p:pic>
        <p:nvPicPr>
          <p:cNvPr id="7" name="Image 0" descr="Module 1 icon">    </p:cNvPr>
          <p:cNvPicPr>
            <a:picLocks noChangeAspect="1"/>
          </p:cNvPicPr>
          <p:nvPr/>
        </p:nvPicPr>
        <p:blipFill>
          <a:blip r:embed="rId1"/>
          <a:stretch>
            <a:fillRect/>
          </a:stretch>
        </p:blipFill>
        <p:spPr>
          <a:xfrm>
            <a:off x="982066" y="1896466"/>
            <a:ext cx="321869" cy="321869"/>
          </a:xfrm>
          <a:prstGeom prst="rect">
            <a:avLst/>
          </a:prstGeom>
        </p:spPr>
      </p:pic>
      <p:sp>
        <p:nvSpPr>
          <p:cNvPr id="8" name="Module tag 1"/>
          <p:cNvSpPr txBox="1"/>
          <p:nvPr/>
        </p:nvSpPr>
        <p:spPr>
          <a:xfrm>
            <a:off x="1737360" y="1645920"/>
            <a:ext cx="256032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MODULE 01</a:t>
            </a:r>
            <a:endParaRPr lang="en-US" sz="1100" dirty="0"/>
          </a:p>
        </p:txBody>
      </p:sp>
      <p:sp>
        <p:nvSpPr>
          <p:cNvPr id="9" name="Module title 1"/>
          <p:cNvSpPr txBox="1"/>
          <p:nvPr/>
        </p:nvSpPr>
        <p:spPr>
          <a:xfrm>
            <a:off x="1737360" y="1874520"/>
            <a:ext cx="2560320" cy="320040"/>
          </a:xfrm>
          <a:prstGeom prst="rect">
            <a:avLst/>
          </a:prstGeom>
          <a:noFill/>
          <a:ln/>
        </p:spPr>
        <p:txBody>
          <a:bodyPr wrap="square" lIns="0" tIns="0" rIns="0" bIns="0" rtlCol="0" anchor="ctr"/>
          <a:lstStyle/>
          <a:p>
            <a:pPr indent="0" marL="0">
              <a:buNone/>
            </a:pPr>
            <a:r>
              <a:rPr lang="en-US" sz="1800" b="1" dirty="0">
                <a:solidFill>
                  <a:schemeClr val="bg1"/>
                </a:solidFill>
              </a:rPr>
              <a:t>Phishing</a:t>
            </a:r>
            <a:endParaRPr lang="en-US" sz="1800" dirty="0"/>
          </a:p>
        </p:txBody>
      </p:sp>
      <p:sp>
        <p:nvSpPr>
          <p:cNvPr id="10" name="Module desc 1"/>
          <p:cNvSpPr txBox="1"/>
          <p:nvPr/>
        </p:nvSpPr>
        <p:spPr>
          <a:xfrm>
            <a:off x="1737360" y="2221992"/>
            <a:ext cx="2560320" cy="502920"/>
          </a:xfrm>
          <a:prstGeom prst="rect">
            <a:avLst/>
          </a:prstGeom>
          <a:noFill/>
          <a:ln/>
        </p:spPr>
        <p:txBody>
          <a:bodyPr wrap="square" lIns="0" tIns="0" rIns="0" bIns="0" rtlCol="0" anchor="t"/>
          <a:lstStyle/>
          <a:p>
            <a:pPr indent="0" marL="0">
              <a:buNone/>
            </a:pPr>
            <a:r>
              <a:rPr lang="en-US" sz="1400" dirty="0">
                <a:solidFill>
                  <a:schemeClr val="bg2"/>
                </a:solidFill>
              </a:rPr>
              <a:t>Spot fake emails before they bite</a:t>
            </a:r>
            <a:endParaRPr lang="en-US" sz="1400" dirty="0"/>
          </a:p>
        </p:txBody>
      </p:sp>
      <p:sp>
        <p:nvSpPr>
          <p:cNvPr id="11" name="Module card 2"/>
          <p:cNvSpPr/>
          <p:nvPr/>
        </p:nvSpPr>
        <p:spPr>
          <a:xfrm>
            <a:off x="4663440" y="1417320"/>
            <a:ext cx="3931920" cy="1463040"/>
          </a:xfrm>
          <a:prstGeom prst="roundRect">
            <a:avLst>
              <a:gd name="adj" fmla="val 7500"/>
            </a:avLst>
          </a:prstGeom>
          <a:solidFill>
            <a:schemeClr val="tx2"/>
          </a:solidFill>
          <a:ln w="12700">
            <a:solidFill>
              <a:schemeClr val="tx2"/>
            </a:solidFill>
            <a:prstDash val="solid"/>
          </a:ln>
        </p:spPr>
      </p:sp>
      <p:sp>
        <p:nvSpPr>
          <p:cNvPr id="12" name="Module 2 badge"/>
          <p:cNvSpPr/>
          <p:nvPr/>
        </p:nvSpPr>
        <p:spPr>
          <a:xfrm>
            <a:off x="4892040" y="1691640"/>
            <a:ext cx="731520" cy="731520"/>
          </a:xfrm>
          <a:prstGeom prst="ellipse">
            <a:avLst/>
          </a:prstGeom>
          <a:solidFill>
            <a:schemeClr val="accent1">
              <a:alpha val="20000"/>
            </a:schemeClr>
          </a:solidFill>
          <a:ln w="12700">
            <a:solidFill>
              <a:schemeClr val="accent1"/>
            </a:solidFill>
            <a:prstDash val="solid"/>
          </a:ln>
        </p:spPr>
      </p:sp>
      <p:pic>
        <p:nvPicPr>
          <p:cNvPr id="13" name="Image 1" descr="Module 2 icon">    </p:cNvPr>
          <p:cNvPicPr>
            <a:picLocks noChangeAspect="1"/>
          </p:cNvPicPr>
          <p:nvPr/>
        </p:nvPicPr>
        <p:blipFill>
          <a:blip r:embed="rId2"/>
          <a:stretch>
            <a:fillRect/>
          </a:stretch>
        </p:blipFill>
        <p:spPr>
          <a:xfrm>
            <a:off x="5096866" y="1896466"/>
            <a:ext cx="321869" cy="321869"/>
          </a:xfrm>
          <a:prstGeom prst="rect">
            <a:avLst/>
          </a:prstGeom>
        </p:spPr>
      </p:pic>
      <p:sp>
        <p:nvSpPr>
          <p:cNvPr id="14" name="Module tag 2"/>
          <p:cNvSpPr txBox="1"/>
          <p:nvPr/>
        </p:nvSpPr>
        <p:spPr>
          <a:xfrm>
            <a:off x="5852160" y="1645920"/>
            <a:ext cx="256032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MODULE 02</a:t>
            </a:r>
            <a:endParaRPr lang="en-US" sz="1100" dirty="0"/>
          </a:p>
        </p:txBody>
      </p:sp>
      <p:sp>
        <p:nvSpPr>
          <p:cNvPr id="15" name="Module title 2"/>
          <p:cNvSpPr txBox="1"/>
          <p:nvPr/>
        </p:nvSpPr>
        <p:spPr>
          <a:xfrm>
            <a:off x="5852160" y="1874520"/>
            <a:ext cx="2560320" cy="320040"/>
          </a:xfrm>
          <a:prstGeom prst="rect">
            <a:avLst/>
          </a:prstGeom>
          <a:noFill/>
          <a:ln/>
        </p:spPr>
        <p:txBody>
          <a:bodyPr wrap="square" lIns="0" tIns="0" rIns="0" bIns="0" rtlCol="0" anchor="ctr"/>
          <a:lstStyle/>
          <a:p>
            <a:pPr indent="0" marL="0">
              <a:buNone/>
            </a:pPr>
            <a:r>
              <a:rPr lang="en-US" sz="1800" b="1" dirty="0">
                <a:solidFill>
                  <a:schemeClr val="bg1"/>
                </a:solidFill>
              </a:rPr>
              <a:t>Passwords</a:t>
            </a:r>
            <a:endParaRPr lang="en-US" sz="1800" dirty="0"/>
          </a:p>
        </p:txBody>
      </p:sp>
      <p:sp>
        <p:nvSpPr>
          <p:cNvPr id="16" name="Module desc 2"/>
          <p:cNvSpPr txBox="1"/>
          <p:nvPr/>
        </p:nvSpPr>
        <p:spPr>
          <a:xfrm>
            <a:off x="5852160" y="2221992"/>
            <a:ext cx="2560320" cy="502920"/>
          </a:xfrm>
          <a:prstGeom prst="rect">
            <a:avLst/>
          </a:prstGeom>
          <a:noFill/>
          <a:ln/>
        </p:spPr>
        <p:txBody>
          <a:bodyPr wrap="square" lIns="0" tIns="0" rIns="0" bIns="0" rtlCol="0" anchor="t"/>
          <a:lstStyle/>
          <a:p>
            <a:pPr indent="0" marL="0">
              <a:buNone/>
            </a:pPr>
            <a:r>
              <a:rPr lang="en-US" sz="1400" dirty="0">
                <a:solidFill>
                  <a:schemeClr val="bg2"/>
                </a:solidFill>
              </a:rPr>
              <a:t>Build ones that actually hold up</a:t>
            </a:r>
            <a:endParaRPr lang="en-US" sz="1400" dirty="0"/>
          </a:p>
        </p:txBody>
      </p:sp>
      <p:sp>
        <p:nvSpPr>
          <p:cNvPr id="17" name="Module card 3"/>
          <p:cNvSpPr/>
          <p:nvPr/>
        </p:nvSpPr>
        <p:spPr>
          <a:xfrm>
            <a:off x="548640" y="3063240"/>
            <a:ext cx="3931920" cy="1463040"/>
          </a:xfrm>
          <a:prstGeom prst="roundRect">
            <a:avLst>
              <a:gd name="adj" fmla="val 7500"/>
            </a:avLst>
          </a:prstGeom>
          <a:solidFill>
            <a:schemeClr val="tx2"/>
          </a:solidFill>
          <a:ln w="12700">
            <a:solidFill>
              <a:schemeClr val="tx2"/>
            </a:solidFill>
            <a:prstDash val="solid"/>
          </a:ln>
        </p:spPr>
      </p:sp>
      <p:sp>
        <p:nvSpPr>
          <p:cNvPr id="18" name="Module 3 badge"/>
          <p:cNvSpPr/>
          <p:nvPr/>
        </p:nvSpPr>
        <p:spPr>
          <a:xfrm>
            <a:off x="777240" y="3337560"/>
            <a:ext cx="731520" cy="731520"/>
          </a:xfrm>
          <a:prstGeom prst="ellipse">
            <a:avLst/>
          </a:prstGeom>
          <a:solidFill>
            <a:schemeClr val="accent1">
              <a:alpha val="20000"/>
            </a:schemeClr>
          </a:solidFill>
          <a:ln w="12700">
            <a:solidFill>
              <a:schemeClr val="accent1"/>
            </a:solidFill>
            <a:prstDash val="solid"/>
          </a:ln>
        </p:spPr>
      </p:sp>
      <p:pic>
        <p:nvPicPr>
          <p:cNvPr id="19" name="Image 2" descr="Module 3 icon">    </p:cNvPr>
          <p:cNvPicPr>
            <a:picLocks noChangeAspect="1"/>
          </p:cNvPicPr>
          <p:nvPr/>
        </p:nvPicPr>
        <p:blipFill>
          <a:blip r:embed="rId3"/>
          <a:stretch>
            <a:fillRect/>
          </a:stretch>
        </p:blipFill>
        <p:spPr>
          <a:xfrm>
            <a:off x="982066" y="3542386"/>
            <a:ext cx="321869" cy="321869"/>
          </a:xfrm>
          <a:prstGeom prst="rect">
            <a:avLst/>
          </a:prstGeom>
        </p:spPr>
      </p:pic>
      <p:sp>
        <p:nvSpPr>
          <p:cNvPr id="20" name="Module tag 3"/>
          <p:cNvSpPr txBox="1"/>
          <p:nvPr/>
        </p:nvSpPr>
        <p:spPr>
          <a:xfrm>
            <a:off x="1737360" y="3291840"/>
            <a:ext cx="256032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MODULE 03</a:t>
            </a:r>
            <a:endParaRPr lang="en-US" sz="1100" dirty="0"/>
          </a:p>
        </p:txBody>
      </p:sp>
      <p:sp>
        <p:nvSpPr>
          <p:cNvPr id="21" name="Module title 3"/>
          <p:cNvSpPr txBox="1"/>
          <p:nvPr/>
        </p:nvSpPr>
        <p:spPr>
          <a:xfrm>
            <a:off x="1737360" y="3520440"/>
            <a:ext cx="2560320" cy="320040"/>
          </a:xfrm>
          <a:prstGeom prst="rect">
            <a:avLst/>
          </a:prstGeom>
          <a:noFill/>
          <a:ln/>
        </p:spPr>
        <p:txBody>
          <a:bodyPr wrap="square" lIns="0" tIns="0" rIns="0" bIns="0" rtlCol="0" anchor="ctr"/>
          <a:lstStyle/>
          <a:p>
            <a:pPr indent="0" marL="0">
              <a:buNone/>
            </a:pPr>
            <a:r>
              <a:rPr lang="en-US" sz="1800" b="1" dirty="0">
                <a:solidFill>
                  <a:schemeClr val="bg1"/>
                </a:solidFill>
              </a:rPr>
              <a:t>Device Safety</a:t>
            </a:r>
            <a:endParaRPr lang="en-US" sz="1800" dirty="0"/>
          </a:p>
        </p:txBody>
      </p:sp>
      <p:sp>
        <p:nvSpPr>
          <p:cNvPr id="22" name="Module desc 3"/>
          <p:cNvSpPr txBox="1"/>
          <p:nvPr/>
        </p:nvSpPr>
        <p:spPr>
          <a:xfrm>
            <a:off x="1737360" y="3867912"/>
            <a:ext cx="2560320" cy="502920"/>
          </a:xfrm>
          <a:prstGeom prst="rect">
            <a:avLst/>
          </a:prstGeom>
          <a:noFill/>
          <a:ln/>
        </p:spPr>
        <p:txBody>
          <a:bodyPr wrap="square" lIns="0" tIns="0" rIns="0" bIns="0" rtlCol="0" anchor="t"/>
          <a:lstStyle/>
          <a:p>
            <a:pPr indent="0" marL="0">
              <a:buNone/>
            </a:pPr>
            <a:r>
              <a:rPr lang="en-US" sz="1400" dirty="0">
                <a:solidFill>
                  <a:schemeClr val="bg2"/>
                </a:solidFill>
              </a:rPr>
              <a:t>Protect laptops, phones and Wi‑Fi</a:t>
            </a:r>
            <a:endParaRPr lang="en-US" sz="1400" dirty="0"/>
          </a:p>
        </p:txBody>
      </p:sp>
      <p:sp>
        <p:nvSpPr>
          <p:cNvPr id="23" name="Module card 4"/>
          <p:cNvSpPr/>
          <p:nvPr/>
        </p:nvSpPr>
        <p:spPr>
          <a:xfrm>
            <a:off x="4663440" y="3063240"/>
            <a:ext cx="3931920" cy="1463040"/>
          </a:xfrm>
          <a:prstGeom prst="roundRect">
            <a:avLst>
              <a:gd name="adj" fmla="val 7500"/>
            </a:avLst>
          </a:prstGeom>
          <a:solidFill>
            <a:schemeClr val="tx2"/>
          </a:solidFill>
          <a:ln w="12700">
            <a:solidFill>
              <a:schemeClr val="tx2"/>
            </a:solidFill>
            <a:prstDash val="solid"/>
          </a:ln>
        </p:spPr>
      </p:sp>
      <p:sp>
        <p:nvSpPr>
          <p:cNvPr id="24" name="Module 4 badge"/>
          <p:cNvSpPr/>
          <p:nvPr/>
        </p:nvSpPr>
        <p:spPr>
          <a:xfrm>
            <a:off x="4892040" y="3337560"/>
            <a:ext cx="731520" cy="731520"/>
          </a:xfrm>
          <a:prstGeom prst="ellipse">
            <a:avLst/>
          </a:prstGeom>
          <a:solidFill>
            <a:schemeClr val="accent1">
              <a:alpha val="20000"/>
            </a:schemeClr>
          </a:solidFill>
          <a:ln w="12700">
            <a:solidFill>
              <a:schemeClr val="accent1"/>
            </a:solidFill>
            <a:prstDash val="solid"/>
          </a:ln>
        </p:spPr>
      </p:sp>
      <p:pic>
        <p:nvPicPr>
          <p:cNvPr id="25" name="Image 3" descr="Module 4 icon">    </p:cNvPr>
          <p:cNvPicPr>
            <a:picLocks noChangeAspect="1"/>
          </p:cNvPicPr>
          <p:nvPr/>
        </p:nvPicPr>
        <p:blipFill>
          <a:blip r:embed="rId4"/>
          <a:stretch>
            <a:fillRect/>
          </a:stretch>
        </p:blipFill>
        <p:spPr>
          <a:xfrm>
            <a:off x="5096866" y="3542386"/>
            <a:ext cx="321869" cy="321869"/>
          </a:xfrm>
          <a:prstGeom prst="rect">
            <a:avLst/>
          </a:prstGeom>
        </p:spPr>
      </p:pic>
      <p:sp>
        <p:nvSpPr>
          <p:cNvPr id="26" name="Module tag 4"/>
          <p:cNvSpPr txBox="1"/>
          <p:nvPr/>
        </p:nvSpPr>
        <p:spPr>
          <a:xfrm>
            <a:off x="5852160" y="3291840"/>
            <a:ext cx="256032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MODULE 04</a:t>
            </a:r>
            <a:endParaRPr lang="en-US" sz="1100" dirty="0"/>
          </a:p>
        </p:txBody>
      </p:sp>
      <p:sp>
        <p:nvSpPr>
          <p:cNvPr id="27" name="Module title 4"/>
          <p:cNvSpPr txBox="1"/>
          <p:nvPr/>
        </p:nvSpPr>
        <p:spPr>
          <a:xfrm>
            <a:off x="5852160" y="3520440"/>
            <a:ext cx="2560320" cy="320040"/>
          </a:xfrm>
          <a:prstGeom prst="rect">
            <a:avLst/>
          </a:prstGeom>
          <a:noFill/>
          <a:ln/>
        </p:spPr>
        <p:txBody>
          <a:bodyPr wrap="square" lIns="0" tIns="0" rIns="0" bIns="0" rtlCol="0" anchor="ctr"/>
          <a:lstStyle/>
          <a:p>
            <a:pPr indent="0" marL="0">
              <a:buNone/>
            </a:pPr>
            <a:r>
              <a:rPr lang="en-US" sz="1800" b="1" dirty="0">
                <a:solidFill>
                  <a:schemeClr val="bg1"/>
                </a:solidFill>
              </a:rPr>
              <a:t>Case Study &amp; Response</a:t>
            </a:r>
            <a:endParaRPr lang="en-US" sz="1800" dirty="0"/>
          </a:p>
        </p:txBody>
      </p:sp>
      <p:sp>
        <p:nvSpPr>
          <p:cNvPr id="28" name="Module desc 4"/>
          <p:cNvSpPr txBox="1"/>
          <p:nvPr/>
        </p:nvSpPr>
        <p:spPr>
          <a:xfrm>
            <a:off x="5852160" y="3867912"/>
            <a:ext cx="2560320" cy="502920"/>
          </a:xfrm>
          <a:prstGeom prst="rect">
            <a:avLst/>
          </a:prstGeom>
          <a:noFill/>
          <a:ln/>
        </p:spPr>
        <p:txBody>
          <a:bodyPr wrap="square" lIns="0" tIns="0" rIns="0" bIns="0" rtlCol="0" anchor="t"/>
          <a:lstStyle/>
          <a:p>
            <a:pPr indent="0" marL="0">
              <a:buNone/>
            </a:pPr>
            <a:r>
              <a:rPr lang="en-US" sz="1400" dirty="0">
                <a:solidFill>
                  <a:schemeClr val="bg2"/>
                </a:solidFill>
              </a:rPr>
              <a:t>Learn from a real attack, know what to do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label"/>
          <p:cNvSpPr txBox="1"/>
          <p:nvPr/>
        </p:nvSpPr>
        <p:spPr>
          <a:xfrm>
            <a:off x="548640" y="256032"/>
            <a:ext cx="804672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MODULE 01 · PHISHING</a:t>
            </a:r>
            <a:endParaRPr lang="en-US" sz="1100" dirty="0"/>
          </a:p>
        </p:txBody>
      </p:sp>
      <p:sp>
        <p:nvSpPr>
          <p:cNvPr id="3" name="Text 1"/>
          <p:cNvSpPr/>
          <p:nvPr>
            <p:ph idx="101" type="title" hasCustomPrompt="1"/>
          </p:nvPr>
        </p:nvSpPr>
        <p:spPr>
          <a:xfrm>
            <a:off x="548640" y="502920"/>
            <a:ext cx="8046720" cy="640080"/>
          </a:xfrm>
          <a:prstGeom prst="rect">
            <a:avLst/>
          </a:prstGeom>
          <a:noFill/>
          <a:ln/>
        </p:spPr>
        <p:txBody>
          <a:bodyPr wrap="square" lIns="0" tIns="0" rIns="0" bIns="0" rtlCol="0" anchor="ctr"/>
          <a:lstStyle/>
          <a:p>
            <a:pPr algn="l" indent="0" marL="0">
              <a:buNone/>
            </a:pPr>
            <a:r>
              <a:rPr lang="en-US" sz="3400" b="1" dirty="0">
                <a:solidFill>
                  <a:schemeClr val="bg1"/>
                </a:solidFill>
              </a:rPr>
              <a:t>Spot the Phish</a:t>
            </a:r>
            <a:endParaRPr lang="en-US" sz="3400" dirty="0"/>
          </a:p>
        </p:txBody>
      </p:sp>
      <p:sp>
        <p:nvSpPr>
          <p:cNvPr id="5" name="Flag 1 badge"/>
          <p:cNvSpPr/>
          <p:nvPr/>
        </p:nvSpPr>
        <p:spPr>
          <a:xfrm>
            <a:off x="548640" y="1371600"/>
            <a:ext cx="685800" cy="685800"/>
          </a:xfrm>
          <a:prstGeom prst="ellipse">
            <a:avLst/>
          </a:prstGeom>
          <a:solidFill>
            <a:schemeClr val="accent3">
              <a:alpha val="20000"/>
            </a:schemeClr>
          </a:solidFill>
          <a:ln w="12700">
            <a:solidFill>
              <a:schemeClr val="accent3"/>
            </a:solidFill>
            <a:prstDash val="solid"/>
          </a:ln>
        </p:spPr>
      </p:sp>
      <p:pic>
        <p:nvPicPr>
          <p:cNvPr id="6" name="Image 0" descr="Flag 1 icon">    </p:cNvPr>
          <p:cNvPicPr>
            <a:picLocks noChangeAspect="1"/>
          </p:cNvPicPr>
          <p:nvPr/>
        </p:nvPicPr>
        <p:blipFill>
          <a:blip r:embed="rId1"/>
          <a:stretch>
            <a:fillRect/>
          </a:stretch>
        </p:blipFill>
        <p:spPr>
          <a:xfrm>
            <a:off x="740664" y="1563624"/>
            <a:ext cx="301752" cy="301752"/>
          </a:xfrm>
          <a:prstGeom prst="rect">
            <a:avLst/>
          </a:prstGeom>
        </p:spPr>
      </p:pic>
      <p:sp>
        <p:nvSpPr>
          <p:cNvPr id="7" name="Flag title 1"/>
          <p:cNvSpPr txBox="1"/>
          <p:nvPr/>
        </p:nvSpPr>
        <p:spPr>
          <a:xfrm>
            <a:off x="1463040" y="1399032"/>
            <a:ext cx="4023360" cy="320040"/>
          </a:xfrm>
          <a:prstGeom prst="rect">
            <a:avLst/>
          </a:prstGeom>
          <a:noFill/>
          <a:ln/>
        </p:spPr>
        <p:txBody>
          <a:bodyPr wrap="square" lIns="0" tIns="0" rIns="0" bIns="0" rtlCol="0" anchor="ctr"/>
          <a:lstStyle/>
          <a:p>
            <a:pPr indent="0" marL="0">
              <a:buNone/>
            </a:pPr>
            <a:r>
              <a:rPr lang="en-US" sz="1800" b="1" dirty="0">
                <a:solidFill>
                  <a:schemeClr val="bg1"/>
                </a:solidFill>
              </a:rPr>
              <a:t>Urgent or scary tone</a:t>
            </a:r>
            <a:endParaRPr lang="en-US" sz="1800" dirty="0"/>
          </a:p>
        </p:txBody>
      </p:sp>
      <p:sp>
        <p:nvSpPr>
          <p:cNvPr id="8" name="Flag desc 1"/>
          <p:cNvSpPr txBox="1"/>
          <p:nvPr/>
        </p:nvSpPr>
        <p:spPr>
          <a:xfrm>
            <a:off x="1463040" y="1737360"/>
            <a:ext cx="4023360" cy="292608"/>
          </a:xfrm>
          <a:prstGeom prst="rect">
            <a:avLst/>
          </a:prstGeom>
          <a:noFill/>
          <a:ln/>
        </p:spPr>
        <p:txBody>
          <a:bodyPr wrap="square" lIns="0" tIns="0" rIns="0" bIns="0" rtlCol="0" anchor="ctr"/>
          <a:lstStyle/>
          <a:p>
            <a:pPr indent="0" marL="0">
              <a:buNone/>
            </a:pPr>
            <a:r>
              <a:rPr lang="en-US" sz="1400" dirty="0">
                <a:solidFill>
                  <a:schemeClr val="bg2"/>
                </a:solidFill>
              </a:rPr>
              <a:t>“Act now or lose access!”</a:t>
            </a:r>
            <a:endParaRPr lang="en-US" sz="1400" dirty="0"/>
          </a:p>
        </p:txBody>
      </p:sp>
      <p:sp>
        <p:nvSpPr>
          <p:cNvPr id="9" name="Flag 2 badge"/>
          <p:cNvSpPr/>
          <p:nvPr/>
        </p:nvSpPr>
        <p:spPr>
          <a:xfrm>
            <a:off x="548640" y="2240280"/>
            <a:ext cx="685800" cy="685800"/>
          </a:xfrm>
          <a:prstGeom prst="ellipse">
            <a:avLst/>
          </a:prstGeom>
          <a:solidFill>
            <a:schemeClr val="accent3">
              <a:alpha val="20000"/>
            </a:schemeClr>
          </a:solidFill>
          <a:ln w="12700">
            <a:solidFill>
              <a:schemeClr val="accent3"/>
            </a:solidFill>
            <a:prstDash val="solid"/>
          </a:ln>
        </p:spPr>
      </p:sp>
      <p:pic>
        <p:nvPicPr>
          <p:cNvPr id="10" name="Image 1" descr="Flag 2 icon">    </p:cNvPr>
          <p:cNvPicPr>
            <a:picLocks noChangeAspect="1"/>
          </p:cNvPicPr>
          <p:nvPr/>
        </p:nvPicPr>
        <p:blipFill>
          <a:blip r:embed="rId2"/>
          <a:stretch>
            <a:fillRect/>
          </a:stretch>
        </p:blipFill>
        <p:spPr>
          <a:xfrm>
            <a:off x="740664" y="2432304"/>
            <a:ext cx="301752" cy="301752"/>
          </a:xfrm>
          <a:prstGeom prst="rect">
            <a:avLst/>
          </a:prstGeom>
        </p:spPr>
      </p:pic>
      <p:sp>
        <p:nvSpPr>
          <p:cNvPr id="11" name="Flag title 2"/>
          <p:cNvSpPr txBox="1"/>
          <p:nvPr/>
        </p:nvSpPr>
        <p:spPr>
          <a:xfrm>
            <a:off x="1463040" y="2267712"/>
            <a:ext cx="4023360" cy="320040"/>
          </a:xfrm>
          <a:prstGeom prst="rect">
            <a:avLst/>
          </a:prstGeom>
          <a:noFill/>
          <a:ln/>
        </p:spPr>
        <p:txBody>
          <a:bodyPr wrap="square" lIns="0" tIns="0" rIns="0" bIns="0" rtlCol="0" anchor="ctr"/>
          <a:lstStyle/>
          <a:p>
            <a:pPr indent="0" marL="0">
              <a:buNone/>
            </a:pPr>
            <a:r>
              <a:rPr lang="en-US" sz="1800" b="1" dirty="0">
                <a:solidFill>
                  <a:schemeClr val="bg1"/>
                </a:solidFill>
              </a:rPr>
              <a:t>Odd sender address</a:t>
            </a:r>
            <a:endParaRPr lang="en-US" sz="1800" dirty="0"/>
          </a:p>
        </p:txBody>
      </p:sp>
      <p:sp>
        <p:nvSpPr>
          <p:cNvPr id="12" name="Flag desc 2"/>
          <p:cNvSpPr txBox="1"/>
          <p:nvPr/>
        </p:nvSpPr>
        <p:spPr>
          <a:xfrm>
            <a:off x="1463040" y="2606040"/>
            <a:ext cx="4023360" cy="292608"/>
          </a:xfrm>
          <a:prstGeom prst="rect">
            <a:avLst/>
          </a:prstGeom>
          <a:noFill/>
          <a:ln/>
        </p:spPr>
        <p:txBody>
          <a:bodyPr wrap="square" lIns="0" tIns="0" rIns="0" bIns="0" rtlCol="0" anchor="ctr"/>
          <a:lstStyle/>
          <a:p>
            <a:pPr indent="0" marL="0">
              <a:buNone/>
            </a:pPr>
            <a:r>
              <a:rPr lang="en-US" sz="1400" dirty="0">
                <a:solidFill>
                  <a:schemeClr val="bg2"/>
                </a:solidFill>
              </a:rPr>
              <a:t>Looks like your boss, isn’t</a:t>
            </a:r>
            <a:endParaRPr lang="en-US" sz="1400" dirty="0"/>
          </a:p>
        </p:txBody>
      </p:sp>
      <p:sp>
        <p:nvSpPr>
          <p:cNvPr id="13" name="Flag 3 badge"/>
          <p:cNvSpPr/>
          <p:nvPr/>
        </p:nvSpPr>
        <p:spPr>
          <a:xfrm>
            <a:off x="548640" y="3108960"/>
            <a:ext cx="685800" cy="685800"/>
          </a:xfrm>
          <a:prstGeom prst="ellipse">
            <a:avLst/>
          </a:prstGeom>
          <a:solidFill>
            <a:schemeClr val="accent3">
              <a:alpha val="20000"/>
            </a:schemeClr>
          </a:solidFill>
          <a:ln w="12700">
            <a:solidFill>
              <a:schemeClr val="accent3"/>
            </a:solidFill>
            <a:prstDash val="solid"/>
          </a:ln>
        </p:spPr>
      </p:sp>
      <p:pic>
        <p:nvPicPr>
          <p:cNvPr id="14" name="Image 2" descr="Flag 3 icon">    </p:cNvPr>
          <p:cNvPicPr>
            <a:picLocks noChangeAspect="1"/>
          </p:cNvPicPr>
          <p:nvPr/>
        </p:nvPicPr>
        <p:blipFill>
          <a:blip r:embed="rId3"/>
          <a:stretch>
            <a:fillRect/>
          </a:stretch>
        </p:blipFill>
        <p:spPr>
          <a:xfrm>
            <a:off x="740664" y="3300984"/>
            <a:ext cx="301752" cy="301752"/>
          </a:xfrm>
          <a:prstGeom prst="rect">
            <a:avLst/>
          </a:prstGeom>
        </p:spPr>
      </p:pic>
      <p:sp>
        <p:nvSpPr>
          <p:cNvPr id="15" name="Flag title 3"/>
          <p:cNvSpPr txBox="1"/>
          <p:nvPr/>
        </p:nvSpPr>
        <p:spPr>
          <a:xfrm>
            <a:off x="1463040" y="3136392"/>
            <a:ext cx="4023360" cy="320040"/>
          </a:xfrm>
          <a:prstGeom prst="rect">
            <a:avLst/>
          </a:prstGeom>
          <a:noFill/>
          <a:ln/>
        </p:spPr>
        <p:txBody>
          <a:bodyPr wrap="square" lIns="0" tIns="0" rIns="0" bIns="0" rtlCol="0" anchor="ctr"/>
          <a:lstStyle/>
          <a:p>
            <a:pPr indent="0" marL="0">
              <a:buNone/>
            </a:pPr>
            <a:r>
              <a:rPr lang="en-US" sz="1800" b="1" dirty="0">
                <a:solidFill>
                  <a:schemeClr val="bg1"/>
                </a:solidFill>
              </a:rPr>
              <a:t>Unexpected links or files</a:t>
            </a:r>
            <a:endParaRPr lang="en-US" sz="1800" dirty="0"/>
          </a:p>
        </p:txBody>
      </p:sp>
      <p:sp>
        <p:nvSpPr>
          <p:cNvPr id="16" name="Flag desc 3"/>
          <p:cNvSpPr txBox="1"/>
          <p:nvPr/>
        </p:nvSpPr>
        <p:spPr>
          <a:xfrm>
            <a:off x="1463040" y="3474720"/>
            <a:ext cx="4023360" cy="292608"/>
          </a:xfrm>
          <a:prstGeom prst="rect">
            <a:avLst/>
          </a:prstGeom>
          <a:noFill/>
          <a:ln/>
        </p:spPr>
        <p:txBody>
          <a:bodyPr wrap="square" lIns="0" tIns="0" rIns="0" bIns="0" rtlCol="0" anchor="ctr"/>
          <a:lstStyle/>
          <a:p>
            <a:pPr indent="0" marL="0">
              <a:buNone/>
            </a:pPr>
            <a:r>
              <a:rPr lang="en-US" sz="1400" dirty="0">
                <a:solidFill>
                  <a:schemeClr val="bg2"/>
                </a:solidFill>
              </a:rPr>
              <a:t>Hover before you ever click</a:t>
            </a:r>
            <a:endParaRPr lang="en-US" sz="1400" dirty="0"/>
          </a:p>
        </p:txBody>
      </p:sp>
      <p:sp>
        <p:nvSpPr>
          <p:cNvPr id="17" name="Flag 4 badge"/>
          <p:cNvSpPr/>
          <p:nvPr/>
        </p:nvSpPr>
        <p:spPr>
          <a:xfrm>
            <a:off x="548640" y="3977640"/>
            <a:ext cx="685800" cy="685800"/>
          </a:xfrm>
          <a:prstGeom prst="ellipse">
            <a:avLst/>
          </a:prstGeom>
          <a:solidFill>
            <a:schemeClr val="accent3">
              <a:alpha val="20000"/>
            </a:schemeClr>
          </a:solidFill>
          <a:ln w="12700">
            <a:solidFill>
              <a:schemeClr val="accent3"/>
            </a:solidFill>
            <a:prstDash val="solid"/>
          </a:ln>
        </p:spPr>
      </p:sp>
      <p:pic>
        <p:nvPicPr>
          <p:cNvPr id="18" name="Image 3" descr="Flag 4 icon">    </p:cNvPr>
          <p:cNvPicPr>
            <a:picLocks noChangeAspect="1"/>
          </p:cNvPicPr>
          <p:nvPr/>
        </p:nvPicPr>
        <p:blipFill>
          <a:blip r:embed="rId4"/>
          <a:stretch>
            <a:fillRect/>
          </a:stretch>
        </p:blipFill>
        <p:spPr>
          <a:xfrm>
            <a:off x="740664" y="4169664"/>
            <a:ext cx="301752" cy="301752"/>
          </a:xfrm>
          <a:prstGeom prst="rect">
            <a:avLst/>
          </a:prstGeom>
        </p:spPr>
      </p:pic>
      <p:sp>
        <p:nvSpPr>
          <p:cNvPr id="19" name="Flag title 4"/>
          <p:cNvSpPr txBox="1"/>
          <p:nvPr/>
        </p:nvSpPr>
        <p:spPr>
          <a:xfrm>
            <a:off x="1463040" y="4005072"/>
            <a:ext cx="4023360" cy="320040"/>
          </a:xfrm>
          <a:prstGeom prst="rect">
            <a:avLst/>
          </a:prstGeom>
          <a:noFill/>
          <a:ln/>
        </p:spPr>
        <p:txBody>
          <a:bodyPr wrap="square" lIns="0" tIns="0" rIns="0" bIns="0" rtlCol="0" anchor="ctr"/>
          <a:lstStyle/>
          <a:p>
            <a:pPr indent="0" marL="0">
              <a:buNone/>
            </a:pPr>
            <a:r>
              <a:rPr lang="en-US" sz="1800" b="1" dirty="0">
                <a:solidFill>
                  <a:schemeClr val="bg1"/>
                </a:solidFill>
              </a:rPr>
              <a:t>Asks for secrets or money</a:t>
            </a:r>
            <a:endParaRPr lang="en-US" sz="1800" dirty="0"/>
          </a:p>
        </p:txBody>
      </p:sp>
      <p:sp>
        <p:nvSpPr>
          <p:cNvPr id="20" name="Flag desc 4"/>
          <p:cNvSpPr txBox="1"/>
          <p:nvPr/>
        </p:nvSpPr>
        <p:spPr>
          <a:xfrm>
            <a:off x="1463040" y="4343400"/>
            <a:ext cx="4023360" cy="292608"/>
          </a:xfrm>
          <a:prstGeom prst="rect">
            <a:avLst/>
          </a:prstGeom>
          <a:noFill/>
          <a:ln/>
        </p:spPr>
        <p:txBody>
          <a:bodyPr wrap="square" lIns="0" tIns="0" rIns="0" bIns="0" rtlCol="0" anchor="ctr"/>
          <a:lstStyle/>
          <a:p>
            <a:pPr indent="0" marL="0">
              <a:buNone/>
            </a:pPr>
            <a:r>
              <a:rPr lang="en-US" sz="1400" dirty="0">
                <a:solidFill>
                  <a:schemeClr val="bg2"/>
                </a:solidFill>
              </a:rPr>
              <a:t>Real teams never ask by email</a:t>
            </a:r>
            <a:endParaRPr lang="en-US" sz="1400" dirty="0"/>
          </a:p>
        </p:txBody>
      </p:sp>
      <p:sp>
        <p:nvSpPr>
          <p:cNvPr id="21" name="Habit panel"/>
          <p:cNvSpPr/>
          <p:nvPr/>
        </p:nvSpPr>
        <p:spPr>
          <a:xfrm>
            <a:off x="5852160" y="1371600"/>
            <a:ext cx="2743200" cy="3291840"/>
          </a:xfrm>
          <a:prstGeom prst="roundRect">
            <a:avLst>
              <a:gd name="adj" fmla="val 4000"/>
            </a:avLst>
          </a:prstGeom>
          <a:solidFill>
            <a:schemeClr val="tx2"/>
          </a:solidFill>
          <a:ln w="12700">
            <a:solidFill>
              <a:schemeClr val="tx2"/>
            </a:solidFill>
            <a:prstDash val="solid"/>
          </a:ln>
        </p:spPr>
      </p:sp>
      <p:sp>
        <p:nvSpPr>
          <p:cNvPr id="22" name="Habit tag"/>
          <p:cNvSpPr txBox="1"/>
          <p:nvPr/>
        </p:nvSpPr>
        <p:spPr>
          <a:xfrm>
            <a:off x="6126480" y="1600200"/>
            <a:ext cx="219456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Build the habit</a:t>
            </a:r>
            <a:endParaRPr lang="en-US" sz="1200" dirty="0"/>
          </a:p>
        </p:txBody>
      </p:sp>
      <p:sp>
        <p:nvSpPr>
          <p:cNvPr id="23" name="Habit words"/>
          <p:cNvSpPr txBox="1"/>
          <p:nvPr/>
        </p:nvSpPr>
        <p:spPr>
          <a:xfrm>
            <a:off x="6126480" y="1965960"/>
            <a:ext cx="2194560" cy="1554480"/>
          </a:xfrm>
          <a:prstGeom prst="rect">
            <a:avLst/>
          </a:prstGeom>
          <a:noFill/>
          <a:ln/>
        </p:spPr>
        <p:txBody>
          <a:bodyPr wrap="square" lIns="0" tIns="0" rIns="0" bIns="0" rtlCol="0" anchor="t"/>
          <a:lstStyle/>
          <a:p>
            <a:pPr indent="0" marL="0">
              <a:buNone/>
            </a:pPr>
            <a:r>
              <a:rPr lang="en-US" sz="3600" b="1" dirty="0">
                <a:solidFill>
                  <a:schemeClr val="accent1"/>
                </a:solidFill>
              </a:rPr>
              <a:t>Pause.</a:t>
            </a:r>
            <a:endParaRPr lang="en-US" sz="3600" dirty="0"/>
          </a:p>
          <a:p>
            <a:pPr indent="0" marL="0">
              <a:buNone/>
            </a:pPr>
            <a:r>
              <a:rPr lang="en-US" sz="3600" b="1" dirty="0">
                <a:solidFill>
                  <a:schemeClr val="accent2"/>
                </a:solidFill>
              </a:rPr>
              <a:t>Hover.</a:t>
            </a:r>
            <a:endParaRPr lang="en-US" sz="3600" dirty="0"/>
          </a:p>
          <a:p>
            <a:pPr indent="0" marL="0">
              <a:buNone/>
            </a:pPr>
            <a:r>
              <a:rPr lang="en-US" sz="3600" b="1" dirty="0">
                <a:solidFill>
                  <a:schemeClr val="accent4"/>
                </a:solidFill>
              </a:rPr>
              <a:t>Verify.</a:t>
            </a:r>
            <a:endParaRPr lang="en-US" sz="3600" dirty="0"/>
          </a:p>
        </p:txBody>
      </p:sp>
      <p:sp>
        <p:nvSpPr>
          <p:cNvPr id="24" name="Habit note"/>
          <p:cNvSpPr txBox="1"/>
          <p:nvPr/>
        </p:nvSpPr>
        <p:spPr>
          <a:xfrm>
            <a:off x="6126480" y="3657600"/>
            <a:ext cx="2194560" cy="731520"/>
          </a:xfrm>
          <a:prstGeom prst="rect">
            <a:avLst/>
          </a:prstGeom>
          <a:noFill/>
          <a:ln/>
        </p:spPr>
        <p:txBody>
          <a:bodyPr wrap="square" lIns="0" tIns="0" rIns="0" bIns="0" rtlCol="0" anchor="t"/>
          <a:lstStyle/>
          <a:p>
            <a:pPr indent="0" marL="0">
              <a:buNone/>
            </a:pPr>
            <a:r>
              <a:rPr lang="en-US" sz="1400" dirty="0">
                <a:solidFill>
                  <a:schemeClr val="bg1"/>
                </a:solidFill>
              </a:rPr>
              <a:t>Still unsure? Ask IT before you act.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label"/>
          <p:cNvSpPr txBox="1"/>
          <p:nvPr/>
        </p:nvSpPr>
        <p:spPr>
          <a:xfrm>
            <a:off x="548640" y="256032"/>
            <a:ext cx="804672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MODULE 01 · PHISHING</a:t>
            </a:r>
            <a:endParaRPr lang="en-US" sz="1100" dirty="0"/>
          </a:p>
        </p:txBody>
      </p:sp>
      <p:sp>
        <p:nvSpPr>
          <p:cNvPr id="3" name="Text 1"/>
          <p:cNvSpPr/>
          <p:nvPr>
            <p:ph idx="101" type="title" hasCustomPrompt="1"/>
          </p:nvPr>
        </p:nvSpPr>
        <p:spPr>
          <a:xfrm>
            <a:off x="548640" y="502920"/>
            <a:ext cx="8046720" cy="640080"/>
          </a:xfrm>
          <a:prstGeom prst="rect">
            <a:avLst/>
          </a:prstGeom>
          <a:noFill/>
          <a:ln/>
        </p:spPr>
        <p:txBody>
          <a:bodyPr wrap="square" lIns="0" tIns="0" rIns="0" bIns="0" rtlCol="0" anchor="ctr"/>
          <a:lstStyle/>
          <a:p>
            <a:pPr algn="l" indent="0" marL="0">
              <a:buNone/>
            </a:pPr>
            <a:r>
              <a:rPr lang="en-US" sz="3400" b="1" dirty="0">
                <a:solidFill>
                  <a:schemeClr val="bg1"/>
                </a:solidFill>
              </a:rPr>
              <a:t>Anatomy of a Phishing Email</a:t>
            </a:r>
            <a:endParaRPr lang="en-US" sz="3400" dirty="0"/>
          </a:p>
        </p:txBody>
      </p:sp>
      <p:sp>
        <p:nvSpPr>
          <p:cNvPr id="5" name="Email mock"/>
          <p:cNvSpPr/>
          <p:nvPr/>
        </p:nvSpPr>
        <p:spPr>
          <a:xfrm>
            <a:off x="548640" y="1371600"/>
            <a:ext cx="4846320" cy="3291840"/>
          </a:xfrm>
          <a:prstGeom prst="roundRect">
            <a:avLst>
              <a:gd name="adj" fmla="val 3333"/>
            </a:avLst>
          </a:prstGeom>
          <a:solidFill>
            <a:schemeClr val="bg1"/>
          </a:solidFill>
          <a:ln w="12700">
            <a:solidFill>
              <a:schemeClr val="bg1"/>
            </a:solidFill>
            <a:prstDash val="solid"/>
          </a:ln>
        </p:spPr>
      </p:sp>
      <p:sp>
        <p:nvSpPr>
          <p:cNvPr id="6" name="From label"/>
          <p:cNvSpPr txBox="1"/>
          <p:nvPr/>
        </p:nvSpPr>
        <p:spPr>
          <a:xfrm>
            <a:off x="777240" y="1554480"/>
            <a:ext cx="914400" cy="201168"/>
          </a:xfrm>
          <a:prstGeom prst="rect">
            <a:avLst/>
          </a:prstGeom>
          <a:noFill/>
          <a:ln/>
        </p:spPr>
        <p:txBody>
          <a:bodyPr wrap="square" lIns="0" tIns="0" rIns="0" bIns="0" rtlCol="0" anchor="ctr"/>
          <a:lstStyle/>
          <a:p>
            <a:pPr indent="0" marL="0">
              <a:buNone/>
            </a:pPr>
            <a:r>
              <a:rPr lang="en-US" sz="1000" b="1" dirty="0">
                <a:solidFill>
                  <a:schemeClr val="accent6"/>
                </a:solidFill>
              </a:rPr>
              <a:t>FROM</a:t>
            </a:r>
            <a:endParaRPr lang="en-US" sz="1000" dirty="0"/>
          </a:p>
        </p:txBody>
      </p:sp>
      <p:sp>
        <p:nvSpPr>
          <p:cNvPr id="7" name="From value"/>
          <p:cNvSpPr txBox="1"/>
          <p:nvPr/>
        </p:nvSpPr>
        <p:spPr>
          <a:xfrm>
            <a:off x="777240" y="1755648"/>
            <a:ext cx="4023360" cy="274320"/>
          </a:xfrm>
          <a:prstGeom prst="rect">
            <a:avLst/>
          </a:prstGeom>
          <a:noFill/>
          <a:ln/>
        </p:spPr>
        <p:txBody>
          <a:bodyPr wrap="square" lIns="0" tIns="0" rIns="0" bIns="0" rtlCol="0" anchor="ctr"/>
          <a:lstStyle/>
          <a:p>
            <a:pPr indent="0" marL="0">
              <a:buNone/>
            </a:pPr>
            <a:r>
              <a:rPr lang="en-US" sz="1400" dirty="0">
                <a:solidFill>
                  <a:schemeClr val="tx1"/>
                </a:solidFill>
              </a:rPr>
              <a:t>it-help@c0mpany-support.com</a:t>
            </a:r>
            <a:endParaRPr lang="en-US" sz="1400" dirty="0"/>
          </a:p>
        </p:txBody>
      </p:sp>
      <p:sp>
        <p:nvSpPr>
          <p:cNvPr id="8" name="Marker 1"/>
          <p:cNvSpPr/>
          <p:nvPr/>
        </p:nvSpPr>
        <p:spPr>
          <a:xfrm>
            <a:off x="4937760" y="1664208"/>
            <a:ext cx="310896" cy="310896"/>
          </a:xfrm>
          <a:prstGeom prst="ellipse">
            <a:avLst/>
          </a:prstGeom>
          <a:solidFill>
            <a:schemeClr val="accent3"/>
          </a:solidFill>
          <a:ln w="12700">
            <a:solidFill>
              <a:schemeClr val="accent3"/>
            </a:solidFill>
            <a:prstDash val="solid"/>
          </a:ln>
        </p:spPr>
      </p:sp>
      <p:sp>
        <p:nvSpPr>
          <p:cNvPr id="9" name="Marker num 1"/>
          <p:cNvSpPr txBox="1"/>
          <p:nvPr/>
        </p:nvSpPr>
        <p:spPr>
          <a:xfrm>
            <a:off x="4937760" y="1664208"/>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Subject label"/>
          <p:cNvSpPr txBox="1"/>
          <p:nvPr/>
        </p:nvSpPr>
        <p:spPr>
          <a:xfrm>
            <a:off x="777240" y="2194560"/>
            <a:ext cx="914400" cy="201168"/>
          </a:xfrm>
          <a:prstGeom prst="rect">
            <a:avLst/>
          </a:prstGeom>
          <a:noFill/>
          <a:ln/>
        </p:spPr>
        <p:txBody>
          <a:bodyPr wrap="square" lIns="0" tIns="0" rIns="0" bIns="0" rtlCol="0" anchor="ctr"/>
          <a:lstStyle/>
          <a:p>
            <a:pPr indent="0" marL="0">
              <a:buNone/>
            </a:pPr>
            <a:r>
              <a:rPr lang="en-US" sz="1000" b="1" dirty="0">
                <a:solidFill>
                  <a:schemeClr val="accent6"/>
                </a:solidFill>
              </a:rPr>
              <a:t>SUBJECT</a:t>
            </a:r>
            <a:endParaRPr lang="en-US" sz="1000" dirty="0"/>
          </a:p>
        </p:txBody>
      </p:sp>
      <p:sp>
        <p:nvSpPr>
          <p:cNvPr id="11" name="Subject value"/>
          <p:cNvSpPr txBox="1"/>
          <p:nvPr/>
        </p:nvSpPr>
        <p:spPr>
          <a:xfrm>
            <a:off x="777240" y="2395728"/>
            <a:ext cx="4023360" cy="274320"/>
          </a:xfrm>
          <a:prstGeom prst="rect">
            <a:avLst/>
          </a:prstGeom>
          <a:noFill/>
          <a:ln/>
        </p:spPr>
        <p:txBody>
          <a:bodyPr wrap="square" lIns="0" tIns="0" rIns="0" bIns="0" rtlCol="0" anchor="ctr"/>
          <a:lstStyle/>
          <a:p>
            <a:pPr indent="0" marL="0">
              <a:buNone/>
            </a:pPr>
            <a:r>
              <a:rPr lang="en-US" sz="1400" b="1" dirty="0">
                <a:solidFill>
                  <a:schemeClr val="tx1"/>
                </a:solidFill>
              </a:rPr>
              <a:t>URGENT: Password expires in 1 hour</a:t>
            </a:r>
            <a:endParaRPr lang="en-US" sz="1400" dirty="0"/>
          </a:p>
        </p:txBody>
      </p:sp>
      <p:sp>
        <p:nvSpPr>
          <p:cNvPr id="12" name="Marker 2"/>
          <p:cNvSpPr/>
          <p:nvPr/>
        </p:nvSpPr>
        <p:spPr>
          <a:xfrm>
            <a:off x="4937760" y="2304288"/>
            <a:ext cx="310896" cy="310896"/>
          </a:xfrm>
          <a:prstGeom prst="ellipse">
            <a:avLst/>
          </a:prstGeom>
          <a:solidFill>
            <a:schemeClr val="accent3"/>
          </a:solidFill>
          <a:ln w="12700">
            <a:solidFill>
              <a:schemeClr val="accent3"/>
            </a:solidFill>
            <a:prstDash val="solid"/>
          </a:ln>
        </p:spPr>
      </p:sp>
      <p:sp>
        <p:nvSpPr>
          <p:cNvPr id="13" name="Marker num 2"/>
          <p:cNvSpPr txBox="1"/>
          <p:nvPr/>
        </p:nvSpPr>
        <p:spPr>
          <a:xfrm>
            <a:off x="4937760" y="2304288"/>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Email body"/>
          <p:cNvSpPr txBox="1"/>
          <p:nvPr/>
        </p:nvSpPr>
        <p:spPr>
          <a:xfrm>
            <a:off x="777240" y="2926080"/>
            <a:ext cx="4206240" cy="548640"/>
          </a:xfrm>
          <a:prstGeom prst="rect">
            <a:avLst/>
          </a:prstGeom>
          <a:noFill/>
          <a:ln/>
        </p:spPr>
        <p:txBody>
          <a:bodyPr wrap="square" lIns="0" tIns="0" rIns="0" bIns="0" rtlCol="0" anchor="t"/>
          <a:lstStyle/>
          <a:p>
            <a:pPr indent="0" marL="0">
              <a:buNone/>
            </a:pPr>
            <a:r>
              <a:rPr lang="en-US" sz="1400" dirty="0">
                <a:solidFill>
                  <a:schemeClr val="tx1"/>
                </a:solidFill>
              </a:rPr>
              <a:t>Your account will be locked. Verify your login immediately:</a:t>
            </a:r>
            <a:endParaRPr lang="en-US" sz="1400" dirty="0"/>
          </a:p>
        </p:txBody>
      </p:sp>
      <p:sp>
        <p:nvSpPr>
          <p:cNvPr id="15" name="Fake link button"/>
          <p:cNvSpPr/>
          <p:nvPr/>
        </p:nvSpPr>
        <p:spPr>
          <a:xfrm>
            <a:off x="777240" y="3749040"/>
            <a:ext cx="4206240" cy="548640"/>
          </a:xfrm>
          <a:prstGeom prst="roundRect">
            <a:avLst>
              <a:gd name="adj" fmla="val 13333"/>
            </a:avLst>
          </a:prstGeom>
          <a:solidFill>
            <a:schemeClr val="accent1"/>
          </a:solidFill>
          <a:ln w="12700">
            <a:solidFill>
              <a:schemeClr val="accent1"/>
            </a:solidFill>
            <a:prstDash val="solid"/>
          </a:ln>
        </p:spPr>
      </p:sp>
      <p:sp>
        <p:nvSpPr>
          <p:cNvPr id="16" name="Fake link text"/>
          <p:cNvSpPr txBox="1"/>
          <p:nvPr/>
        </p:nvSpPr>
        <p:spPr>
          <a:xfrm>
            <a:off x="777240" y="3749040"/>
            <a:ext cx="4206240" cy="548640"/>
          </a:xfrm>
          <a:prstGeom prst="rect">
            <a:avLst/>
          </a:prstGeom>
          <a:noFill/>
          <a:ln/>
        </p:spPr>
        <p:txBody>
          <a:bodyPr wrap="square" lIns="0" tIns="0" rIns="0" bIns="0" rtlCol="0" anchor="ctr"/>
          <a:lstStyle/>
          <a:p>
            <a:pPr algn="ctr" indent="0" marL="0">
              <a:buNone/>
            </a:pPr>
            <a:r>
              <a:rPr lang="en-US" sz="1400" b="1" dirty="0">
                <a:solidFill>
                  <a:schemeClr val="tx1"/>
                </a:solidFill>
              </a:rPr>
              <a:t>company-login.verify-now.co</a:t>
            </a:r>
            <a:endParaRPr lang="en-US" sz="1400" dirty="0"/>
          </a:p>
        </p:txBody>
      </p:sp>
      <p:sp>
        <p:nvSpPr>
          <p:cNvPr id="17" name="Marker 3"/>
          <p:cNvSpPr/>
          <p:nvPr/>
        </p:nvSpPr>
        <p:spPr>
          <a:xfrm>
            <a:off x="4937760" y="3611880"/>
            <a:ext cx="310896" cy="310896"/>
          </a:xfrm>
          <a:prstGeom prst="ellipse">
            <a:avLst/>
          </a:prstGeom>
          <a:solidFill>
            <a:schemeClr val="accent3"/>
          </a:solidFill>
          <a:ln w="12700">
            <a:solidFill>
              <a:schemeClr val="accent3"/>
            </a:solidFill>
            <a:prstDash val="solid"/>
          </a:ln>
        </p:spPr>
      </p:sp>
      <p:sp>
        <p:nvSpPr>
          <p:cNvPr id="18" name="Marker num 3"/>
          <p:cNvSpPr txBox="1"/>
          <p:nvPr/>
        </p:nvSpPr>
        <p:spPr>
          <a:xfrm>
            <a:off x="4937760" y="3611880"/>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9" name="Callout dot 1"/>
          <p:cNvSpPr/>
          <p:nvPr/>
        </p:nvSpPr>
        <p:spPr>
          <a:xfrm>
            <a:off x="5760720" y="1463040"/>
            <a:ext cx="411480" cy="411480"/>
          </a:xfrm>
          <a:prstGeom prst="ellipse">
            <a:avLst/>
          </a:prstGeom>
          <a:solidFill>
            <a:schemeClr val="accent3"/>
          </a:solidFill>
          <a:ln w="12700">
            <a:solidFill>
              <a:schemeClr val="accent3"/>
            </a:solidFill>
            <a:prstDash val="solid"/>
          </a:ln>
        </p:spPr>
      </p:sp>
      <p:sp>
        <p:nvSpPr>
          <p:cNvPr id="20" name="Callout num 1"/>
          <p:cNvSpPr txBox="1"/>
          <p:nvPr/>
        </p:nvSpPr>
        <p:spPr>
          <a:xfrm>
            <a:off x="5760720"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1" name="Callout title 1"/>
          <p:cNvSpPr txBox="1"/>
          <p:nvPr/>
        </p:nvSpPr>
        <p:spPr>
          <a:xfrm>
            <a:off x="6355080" y="1444752"/>
            <a:ext cx="2286000" cy="320040"/>
          </a:xfrm>
          <a:prstGeom prst="rect">
            <a:avLst/>
          </a:prstGeom>
          <a:noFill/>
          <a:ln/>
        </p:spPr>
        <p:txBody>
          <a:bodyPr wrap="square" lIns="0" tIns="0" rIns="0" bIns="0" rtlCol="0" anchor="ctr"/>
          <a:lstStyle/>
          <a:p>
            <a:pPr indent="0" marL="0">
              <a:buNone/>
            </a:pPr>
            <a:r>
              <a:rPr lang="en-US" sz="1800" b="1" dirty="0">
                <a:solidFill>
                  <a:schemeClr val="bg1"/>
                </a:solidFill>
              </a:rPr>
              <a:t>Fake sender domain</a:t>
            </a:r>
            <a:endParaRPr lang="en-US" sz="1800" dirty="0"/>
          </a:p>
        </p:txBody>
      </p:sp>
      <p:sp>
        <p:nvSpPr>
          <p:cNvPr id="22" name="Callout desc 1"/>
          <p:cNvSpPr txBox="1"/>
          <p:nvPr/>
        </p:nvSpPr>
        <p:spPr>
          <a:xfrm>
            <a:off x="6355080" y="1810512"/>
            <a:ext cx="2286000" cy="548640"/>
          </a:xfrm>
          <a:prstGeom prst="rect">
            <a:avLst/>
          </a:prstGeom>
          <a:noFill/>
          <a:ln/>
        </p:spPr>
        <p:txBody>
          <a:bodyPr wrap="square" lIns="0" tIns="0" rIns="0" bIns="0" rtlCol="0" anchor="t"/>
          <a:lstStyle/>
          <a:p>
            <a:pPr indent="0" marL="0">
              <a:buNone/>
            </a:pPr>
            <a:r>
              <a:rPr lang="en-US" sz="1400" dirty="0">
                <a:solidFill>
                  <a:schemeClr val="bg2"/>
                </a:solidFill>
              </a:rPr>
              <a:t>A zero replaces the “o”</a:t>
            </a:r>
            <a:endParaRPr lang="en-US" sz="1400" dirty="0"/>
          </a:p>
        </p:txBody>
      </p:sp>
      <p:sp>
        <p:nvSpPr>
          <p:cNvPr id="23" name="Callout dot 2"/>
          <p:cNvSpPr/>
          <p:nvPr/>
        </p:nvSpPr>
        <p:spPr>
          <a:xfrm>
            <a:off x="5760720" y="2560320"/>
            <a:ext cx="411480" cy="411480"/>
          </a:xfrm>
          <a:prstGeom prst="ellipse">
            <a:avLst/>
          </a:prstGeom>
          <a:solidFill>
            <a:schemeClr val="accent3"/>
          </a:solidFill>
          <a:ln w="12700">
            <a:solidFill>
              <a:schemeClr val="accent3"/>
            </a:solidFill>
            <a:prstDash val="solid"/>
          </a:ln>
        </p:spPr>
      </p:sp>
      <p:sp>
        <p:nvSpPr>
          <p:cNvPr id="24" name="Callout num 2"/>
          <p:cNvSpPr txBox="1"/>
          <p:nvPr/>
        </p:nvSpPr>
        <p:spPr>
          <a:xfrm>
            <a:off x="5760720" y="256032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5" name="Callout title 2"/>
          <p:cNvSpPr txBox="1"/>
          <p:nvPr/>
        </p:nvSpPr>
        <p:spPr>
          <a:xfrm>
            <a:off x="6355080" y="2542032"/>
            <a:ext cx="2286000" cy="320040"/>
          </a:xfrm>
          <a:prstGeom prst="rect">
            <a:avLst/>
          </a:prstGeom>
          <a:noFill/>
          <a:ln/>
        </p:spPr>
        <p:txBody>
          <a:bodyPr wrap="square" lIns="0" tIns="0" rIns="0" bIns="0" rtlCol="0" anchor="ctr"/>
          <a:lstStyle/>
          <a:p>
            <a:pPr indent="0" marL="0">
              <a:buNone/>
            </a:pPr>
            <a:r>
              <a:rPr lang="en-US" sz="1800" b="1" dirty="0">
                <a:solidFill>
                  <a:schemeClr val="bg1"/>
                </a:solidFill>
              </a:rPr>
              <a:t>Panic deadline</a:t>
            </a:r>
            <a:endParaRPr lang="en-US" sz="1800" dirty="0"/>
          </a:p>
        </p:txBody>
      </p:sp>
      <p:sp>
        <p:nvSpPr>
          <p:cNvPr id="26" name="Callout desc 2"/>
          <p:cNvSpPr txBox="1"/>
          <p:nvPr/>
        </p:nvSpPr>
        <p:spPr>
          <a:xfrm>
            <a:off x="6355080" y="2907792"/>
            <a:ext cx="2286000" cy="548640"/>
          </a:xfrm>
          <a:prstGeom prst="rect">
            <a:avLst/>
          </a:prstGeom>
          <a:noFill/>
          <a:ln/>
        </p:spPr>
        <p:txBody>
          <a:bodyPr wrap="square" lIns="0" tIns="0" rIns="0" bIns="0" rtlCol="0" anchor="t"/>
          <a:lstStyle/>
          <a:p>
            <a:pPr indent="0" marL="0">
              <a:buNone/>
            </a:pPr>
            <a:r>
              <a:rPr lang="en-US" sz="1400" dirty="0">
                <a:solidFill>
                  <a:schemeClr val="bg2"/>
                </a:solidFill>
              </a:rPr>
              <a:t>Pressure beats careful thinking</a:t>
            </a:r>
            <a:endParaRPr lang="en-US" sz="1400" dirty="0"/>
          </a:p>
        </p:txBody>
      </p:sp>
      <p:sp>
        <p:nvSpPr>
          <p:cNvPr id="27" name="Callout dot 3"/>
          <p:cNvSpPr/>
          <p:nvPr/>
        </p:nvSpPr>
        <p:spPr>
          <a:xfrm>
            <a:off x="5760720" y="3657600"/>
            <a:ext cx="411480" cy="411480"/>
          </a:xfrm>
          <a:prstGeom prst="ellipse">
            <a:avLst/>
          </a:prstGeom>
          <a:solidFill>
            <a:schemeClr val="accent3"/>
          </a:solidFill>
          <a:ln w="12700">
            <a:solidFill>
              <a:schemeClr val="accent3"/>
            </a:solidFill>
            <a:prstDash val="solid"/>
          </a:ln>
        </p:spPr>
      </p:sp>
      <p:sp>
        <p:nvSpPr>
          <p:cNvPr id="28" name="Callout num 3"/>
          <p:cNvSpPr txBox="1"/>
          <p:nvPr/>
        </p:nvSpPr>
        <p:spPr>
          <a:xfrm>
            <a:off x="5760720" y="36576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9" name="Callout title 3"/>
          <p:cNvSpPr txBox="1"/>
          <p:nvPr/>
        </p:nvSpPr>
        <p:spPr>
          <a:xfrm>
            <a:off x="6355080" y="3639312"/>
            <a:ext cx="2286000" cy="320040"/>
          </a:xfrm>
          <a:prstGeom prst="rect">
            <a:avLst/>
          </a:prstGeom>
          <a:noFill/>
          <a:ln/>
        </p:spPr>
        <p:txBody>
          <a:bodyPr wrap="square" lIns="0" tIns="0" rIns="0" bIns="0" rtlCol="0" anchor="ctr"/>
          <a:lstStyle/>
          <a:p>
            <a:pPr indent="0" marL="0">
              <a:buNone/>
            </a:pPr>
            <a:r>
              <a:rPr lang="en-US" sz="1800" b="1" dirty="0">
                <a:solidFill>
                  <a:schemeClr val="bg1"/>
                </a:solidFill>
              </a:rPr>
              <a:t>Mismatched link</a:t>
            </a:r>
            <a:endParaRPr lang="en-US" sz="1800" dirty="0"/>
          </a:p>
        </p:txBody>
      </p:sp>
      <p:sp>
        <p:nvSpPr>
          <p:cNvPr id="30" name="Callout desc 3"/>
          <p:cNvSpPr txBox="1"/>
          <p:nvPr/>
        </p:nvSpPr>
        <p:spPr>
          <a:xfrm>
            <a:off x="6355080" y="4005072"/>
            <a:ext cx="2286000" cy="548640"/>
          </a:xfrm>
          <a:prstGeom prst="rect">
            <a:avLst/>
          </a:prstGeom>
          <a:noFill/>
          <a:ln/>
        </p:spPr>
        <p:txBody>
          <a:bodyPr wrap="square" lIns="0" tIns="0" rIns="0" bIns="0" rtlCol="0" anchor="t"/>
          <a:lstStyle/>
          <a:p>
            <a:pPr indent="0" marL="0">
              <a:buNone/>
            </a:pPr>
            <a:r>
              <a:rPr lang="en-US" sz="1400" dirty="0">
                <a:solidFill>
                  <a:schemeClr val="bg2"/>
                </a:solidFill>
              </a:rPr>
              <a:t>Doesn’t match any real site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label"/>
          <p:cNvSpPr txBox="1"/>
          <p:nvPr/>
        </p:nvSpPr>
        <p:spPr>
          <a:xfrm>
            <a:off x="548640" y="256032"/>
            <a:ext cx="804672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MODULE 02 · PASSWORDS</a:t>
            </a:r>
            <a:endParaRPr lang="en-US" sz="1100" dirty="0"/>
          </a:p>
        </p:txBody>
      </p:sp>
      <p:sp>
        <p:nvSpPr>
          <p:cNvPr id="3" name="Text 1"/>
          <p:cNvSpPr/>
          <p:nvPr>
            <p:ph idx="101" type="title" hasCustomPrompt="1"/>
          </p:nvPr>
        </p:nvSpPr>
        <p:spPr>
          <a:xfrm>
            <a:off x="548640" y="502920"/>
            <a:ext cx="8046720" cy="640080"/>
          </a:xfrm>
          <a:prstGeom prst="rect">
            <a:avLst/>
          </a:prstGeom>
          <a:noFill/>
          <a:ln/>
        </p:spPr>
        <p:txBody>
          <a:bodyPr wrap="square" lIns="0" tIns="0" rIns="0" bIns="0" rtlCol="0" anchor="ctr"/>
          <a:lstStyle/>
          <a:p>
            <a:pPr algn="l" indent="0" marL="0">
              <a:buNone/>
            </a:pPr>
            <a:r>
              <a:rPr lang="en-US" sz="3400" b="1" dirty="0">
                <a:solidFill>
                  <a:schemeClr val="bg1"/>
                </a:solidFill>
              </a:rPr>
              <a:t>Passwords That Hold Up</a:t>
            </a:r>
            <a:endParaRPr lang="en-US" sz="3400" dirty="0"/>
          </a:p>
        </p:txBody>
      </p:sp>
      <p:sp>
        <p:nvSpPr>
          <p:cNvPr id="5" name="Weak card"/>
          <p:cNvSpPr/>
          <p:nvPr/>
        </p:nvSpPr>
        <p:spPr>
          <a:xfrm>
            <a:off x="548640" y="1371600"/>
            <a:ext cx="3931920" cy="2103120"/>
          </a:xfrm>
          <a:prstGeom prst="roundRect">
            <a:avLst>
              <a:gd name="adj" fmla="val 5217"/>
            </a:avLst>
          </a:prstGeom>
          <a:solidFill>
            <a:schemeClr val="accent3">
              <a:alpha val="15000"/>
            </a:schemeClr>
          </a:solidFill>
          <a:ln w="12700">
            <a:solidFill>
              <a:schemeClr val="accent3"/>
            </a:solidFill>
            <a:prstDash val="solid"/>
          </a:ln>
        </p:spPr>
      </p:sp>
      <p:sp>
        <p:nvSpPr>
          <p:cNvPr id="6" name="Weak badge"/>
          <p:cNvSpPr/>
          <p:nvPr/>
        </p:nvSpPr>
        <p:spPr>
          <a:xfrm>
            <a:off x="777240" y="1554480"/>
            <a:ext cx="548640" cy="548640"/>
          </a:xfrm>
          <a:prstGeom prst="ellipse">
            <a:avLst/>
          </a:prstGeom>
          <a:solidFill>
            <a:schemeClr val="accent3">
              <a:alpha val="20000"/>
            </a:schemeClr>
          </a:solidFill>
          <a:ln w="12700">
            <a:solidFill>
              <a:schemeClr val="accent3"/>
            </a:solidFill>
            <a:prstDash val="solid"/>
          </a:ln>
        </p:spPr>
      </p:sp>
      <p:pic>
        <p:nvPicPr>
          <p:cNvPr id="7" name="Image 0" descr="Weak icon">    </p:cNvPr>
          <p:cNvPicPr>
            <a:picLocks noChangeAspect="1"/>
          </p:cNvPicPr>
          <p:nvPr/>
        </p:nvPicPr>
        <p:blipFill>
          <a:blip r:embed="rId1"/>
          <a:stretch>
            <a:fillRect/>
          </a:stretch>
        </p:blipFill>
        <p:spPr>
          <a:xfrm>
            <a:off x="930859" y="1708099"/>
            <a:ext cx="241402" cy="241402"/>
          </a:xfrm>
          <a:prstGeom prst="rect">
            <a:avLst/>
          </a:prstGeom>
        </p:spPr>
      </p:pic>
      <p:sp>
        <p:nvSpPr>
          <p:cNvPr id="8" name="Weak title"/>
          <p:cNvSpPr txBox="1"/>
          <p:nvPr/>
        </p:nvSpPr>
        <p:spPr>
          <a:xfrm>
            <a:off x="1508760" y="1554480"/>
            <a:ext cx="2743200" cy="548640"/>
          </a:xfrm>
          <a:prstGeom prst="rect">
            <a:avLst/>
          </a:prstGeom>
          <a:noFill/>
          <a:ln/>
        </p:spPr>
        <p:txBody>
          <a:bodyPr wrap="square" lIns="0" tIns="0" rIns="0" bIns="0" rtlCol="0" anchor="ctr"/>
          <a:lstStyle/>
          <a:p>
            <a:pPr indent="0" marL="0">
              <a:buNone/>
            </a:pPr>
            <a:r>
              <a:rPr lang="en-US" sz="2200" b="1" dirty="0">
                <a:solidFill>
                  <a:schemeClr val="accent3"/>
                </a:solidFill>
              </a:rPr>
              <a:t>Weak</a:t>
            </a:r>
            <a:endParaRPr lang="en-US" sz="2200" dirty="0"/>
          </a:p>
        </p:txBody>
      </p:sp>
      <p:sp>
        <p:nvSpPr>
          <p:cNvPr id="9" name="Weak list"/>
          <p:cNvSpPr txBox="1"/>
          <p:nvPr/>
        </p:nvSpPr>
        <p:spPr>
          <a:xfrm>
            <a:off x="777240" y="2240280"/>
            <a:ext cx="3474720" cy="10972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Short and predictable</a:t>
            </a:r>
            <a:endParaRPr lang="en-US" sz="1600" dirty="0"/>
          </a:p>
          <a:p>
            <a:pPr marL="342900" indent="-342900">
              <a:spcAft>
                <a:spcPts val="600"/>
              </a:spcAft>
              <a:buSzPct val="100000"/>
              <a:buChar char="•"/>
            </a:pPr>
            <a:r>
              <a:rPr lang="en-US" sz="1600" dirty="0">
                <a:solidFill>
                  <a:schemeClr val="bg1"/>
                </a:solidFill>
              </a:rPr>
              <a:t>Pet name + birthday</a:t>
            </a:r>
            <a:endParaRPr lang="en-US" sz="1600" dirty="0"/>
          </a:p>
          <a:p>
            <a:pPr marL="342900" indent="-342900">
              <a:spcAft>
                <a:spcPts val="600"/>
              </a:spcAft>
              <a:buSzPct val="100000"/>
              <a:buChar char="•"/>
            </a:pPr>
            <a:r>
              <a:rPr lang="en-US" sz="1600" dirty="0">
                <a:solidFill>
                  <a:schemeClr val="bg1"/>
                </a:solidFill>
              </a:rPr>
              <a:t>The same one everywhere</a:t>
            </a:r>
            <a:endParaRPr lang="en-US" sz="1600" dirty="0"/>
          </a:p>
        </p:txBody>
      </p:sp>
      <p:sp>
        <p:nvSpPr>
          <p:cNvPr id="10" name="Strong card"/>
          <p:cNvSpPr/>
          <p:nvPr/>
        </p:nvSpPr>
        <p:spPr>
          <a:xfrm>
            <a:off x="4663440" y="1371600"/>
            <a:ext cx="3931920" cy="2103120"/>
          </a:xfrm>
          <a:prstGeom prst="roundRect">
            <a:avLst>
              <a:gd name="adj" fmla="val 5217"/>
            </a:avLst>
          </a:prstGeom>
          <a:solidFill>
            <a:schemeClr val="accent2">
              <a:alpha val="15000"/>
            </a:schemeClr>
          </a:solidFill>
          <a:ln w="12700">
            <a:solidFill>
              <a:schemeClr val="accent2"/>
            </a:solidFill>
            <a:prstDash val="solid"/>
          </a:ln>
        </p:spPr>
      </p:sp>
      <p:sp>
        <p:nvSpPr>
          <p:cNvPr id="11" name="Strong badge"/>
          <p:cNvSpPr/>
          <p:nvPr/>
        </p:nvSpPr>
        <p:spPr>
          <a:xfrm>
            <a:off x="4892040" y="1554480"/>
            <a:ext cx="548640" cy="548640"/>
          </a:xfrm>
          <a:prstGeom prst="ellipse">
            <a:avLst/>
          </a:prstGeom>
          <a:solidFill>
            <a:schemeClr val="accent2">
              <a:alpha val="20000"/>
            </a:schemeClr>
          </a:solidFill>
          <a:ln w="12700">
            <a:solidFill>
              <a:schemeClr val="accent2"/>
            </a:solidFill>
            <a:prstDash val="solid"/>
          </a:ln>
        </p:spPr>
      </p:sp>
      <p:pic>
        <p:nvPicPr>
          <p:cNvPr id="12" name="Image 1" descr="Strong icon">    </p:cNvPr>
          <p:cNvPicPr>
            <a:picLocks noChangeAspect="1"/>
          </p:cNvPicPr>
          <p:nvPr/>
        </p:nvPicPr>
        <p:blipFill>
          <a:blip r:embed="rId2"/>
          <a:stretch>
            <a:fillRect/>
          </a:stretch>
        </p:blipFill>
        <p:spPr>
          <a:xfrm>
            <a:off x="5045659" y="1708099"/>
            <a:ext cx="241402" cy="241402"/>
          </a:xfrm>
          <a:prstGeom prst="rect">
            <a:avLst/>
          </a:prstGeom>
        </p:spPr>
      </p:pic>
      <p:sp>
        <p:nvSpPr>
          <p:cNvPr id="13" name="Strong title"/>
          <p:cNvSpPr txBox="1"/>
          <p:nvPr/>
        </p:nvSpPr>
        <p:spPr>
          <a:xfrm>
            <a:off x="5623560" y="1554480"/>
            <a:ext cx="2743200" cy="548640"/>
          </a:xfrm>
          <a:prstGeom prst="rect">
            <a:avLst/>
          </a:prstGeom>
          <a:noFill/>
          <a:ln/>
        </p:spPr>
        <p:txBody>
          <a:bodyPr wrap="square" lIns="0" tIns="0" rIns="0" bIns="0" rtlCol="0" anchor="ctr"/>
          <a:lstStyle/>
          <a:p>
            <a:pPr indent="0" marL="0">
              <a:buNone/>
            </a:pPr>
            <a:r>
              <a:rPr lang="en-US" sz="2200" b="1" dirty="0">
                <a:solidFill>
                  <a:schemeClr val="accent2"/>
                </a:solidFill>
              </a:rPr>
              <a:t>Strong</a:t>
            </a:r>
            <a:endParaRPr lang="en-US" sz="2200" dirty="0"/>
          </a:p>
        </p:txBody>
      </p:sp>
      <p:sp>
        <p:nvSpPr>
          <p:cNvPr id="14" name="Strong list"/>
          <p:cNvSpPr txBox="1"/>
          <p:nvPr/>
        </p:nvSpPr>
        <p:spPr>
          <a:xfrm>
            <a:off x="4892040" y="2240280"/>
            <a:ext cx="3566160" cy="10972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Long passphrase (4+ random words)</a:t>
            </a:r>
            <a:endParaRPr lang="en-US" sz="1600" dirty="0"/>
          </a:p>
          <a:p>
            <a:pPr marL="342900" indent="-342900">
              <a:spcAft>
                <a:spcPts val="600"/>
              </a:spcAft>
              <a:buSzPct val="100000"/>
              <a:buChar char="•"/>
            </a:pPr>
            <a:r>
              <a:rPr lang="en-US" sz="1600" dirty="0">
                <a:solidFill>
                  <a:schemeClr val="bg1"/>
                </a:solidFill>
              </a:rPr>
              <a:t>Unique for every account</a:t>
            </a:r>
            <a:endParaRPr lang="en-US" sz="1600" dirty="0"/>
          </a:p>
          <a:p>
            <a:pPr marL="342900" indent="-342900">
              <a:spcAft>
                <a:spcPts val="600"/>
              </a:spcAft>
              <a:buSzPct val="100000"/>
              <a:buChar char="•"/>
            </a:pPr>
            <a:r>
              <a:rPr lang="en-US" sz="1600" dirty="0">
                <a:solidFill>
                  <a:schemeClr val="bg1"/>
                </a:solidFill>
                <a:latin typeface="Courier New" pitchFamily="34" charset="0"/>
                <a:ea typeface="Courier New" pitchFamily="34" charset="-122"/>
                <a:cs typeface="Courier New" pitchFamily="34" charset="-120"/>
              </a:rPr>
              <a:t>copper-lantern-orbit-seven</a:t>
            </a:r>
            <a:endParaRPr lang="en-US" sz="1600" dirty="0"/>
          </a:p>
        </p:txBody>
      </p:sp>
      <p:sp>
        <p:nvSpPr>
          <p:cNvPr id="15" name="Tip chip 1"/>
          <p:cNvSpPr/>
          <p:nvPr/>
        </p:nvSpPr>
        <p:spPr>
          <a:xfrm>
            <a:off x="548640" y="3749040"/>
            <a:ext cx="2514600" cy="914400"/>
          </a:xfrm>
          <a:prstGeom prst="roundRect">
            <a:avLst>
              <a:gd name="adj" fmla="val 12000"/>
            </a:avLst>
          </a:prstGeom>
          <a:solidFill>
            <a:schemeClr val="tx2"/>
          </a:solidFill>
          <a:ln w="12700">
            <a:solidFill>
              <a:schemeClr val="tx2"/>
            </a:solidFill>
            <a:prstDash val="solid"/>
          </a:ln>
        </p:spPr>
      </p:sp>
      <p:sp>
        <p:nvSpPr>
          <p:cNvPr id="16" name="Tip 1 badge"/>
          <p:cNvSpPr/>
          <p:nvPr/>
        </p:nvSpPr>
        <p:spPr>
          <a:xfrm>
            <a:off x="731520" y="3913632"/>
            <a:ext cx="585216" cy="585216"/>
          </a:xfrm>
          <a:prstGeom prst="ellipse">
            <a:avLst/>
          </a:prstGeom>
          <a:solidFill>
            <a:schemeClr val="accent1">
              <a:alpha val="20000"/>
            </a:schemeClr>
          </a:solidFill>
          <a:ln w="12700">
            <a:solidFill>
              <a:schemeClr val="accent1"/>
            </a:solidFill>
            <a:prstDash val="solid"/>
          </a:ln>
        </p:spPr>
      </p:sp>
      <p:pic>
        <p:nvPicPr>
          <p:cNvPr id="17" name="Image 2" descr="Tip 1 icon">    </p:cNvPr>
          <p:cNvPicPr>
            <a:picLocks noChangeAspect="1"/>
          </p:cNvPicPr>
          <p:nvPr/>
        </p:nvPicPr>
        <p:blipFill>
          <a:blip r:embed="rId3"/>
          <a:stretch>
            <a:fillRect/>
          </a:stretch>
        </p:blipFill>
        <p:spPr>
          <a:xfrm>
            <a:off x="895380" y="4077492"/>
            <a:ext cx="257495" cy="257495"/>
          </a:xfrm>
          <a:prstGeom prst="rect">
            <a:avLst/>
          </a:prstGeom>
        </p:spPr>
      </p:pic>
      <p:sp>
        <p:nvSpPr>
          <p:cNvPr id="18" name="Tip text 1"/>
          <p:cNvSpPr txBox="1"/>
          <p:nvPr/>
        </p:nvSpPr>
        <p:spPr>
          <a:xfrm>
            <a:off x="1463040" y="3749040"/>
            <a:ext cx="1508760" cy="914400"/>
          </a:xfrm>
          <a:prstGeom prst="rect">
            <a:avLst/>
          </a:prstGeom>
          <a:noFill/>
          <a:ln/>
        </p:spPr>
        <p:txBody>
          <a:bodyPr wrap="square" lIns="0" tIns="0" rIns="0" bIns="0" rtlCol="0" anchor="ctr"/>
          <a:lstStyle/>
          <a:p>
            <a:pPr indent="0" marL="0">
              <a:buNone/>
            </a:pPr>
            <a:r>
              <a:rPr lang="en-US" sz="1400" b="1" dirty="0">
                <a:solidFill>
                  <a:schemeClr val="bg1"/>
                </a:solidFill>
              </a:rPr>
              <a:t>Use a password manager</a:t>
            </a:r>
            <a:endParaRPr lang="en-US" sz="1400" dirty="0"/>
          </a:p>
        </p:txBody>
      </p:sp>
      <p:sp>
        <p:nvSpPr>
          <p:cNvPr id="19" name="Tip chip 2"/>
          <p:cNvSpPr/>
          <p:nvPr/>
        </p:nvSpPr>
        <p:spPr>
          <a:xfrm>
            <a:off x="3337560" y="3749040"/>
            <a:ext cx="2514600" cy="914400"/>
          </a:xfrm>
          <a:prstGeom prst="roundRect">
            <a:avLst>
              <a:gd name="adj" fmla="val 12000"/>
            </a:avLst>
          </a:prstGeom>
          <a:solidFill>
            <a:schemeClr val="tx2"/>
          </a:solidFill>
          <a:ln w="12700">
            <a:solidFill>
              <a:schemeClr val="tx2"/>
            </a:solidFill>
            <a:prstDash val="solid"/>
          </a:ln>
        </p:spPr>
      </p:sp>
      <p:sp>
        <p:nvSpPr>
          <p:cNvPr id="20" name="Tip 2 badge"/>
          <p:cNvSpPr/>
          <p:nvPr/>
        </p:nvSpPr>
        <p:spPr>
          <a:xfrm>
            <a:off x="3520440" y="3913632"/>
            <a:ext cx="585216" cy="585216"/>
          </a:xfrm>
          <a:prstGeom prst="ellipse">
            <a:avLst/>
          </a:prstGeom>
          <a:solidFill>
            <a:schemeClr val="accent1">
              <a:alpha val="20000"/>
            </a:schemeClr>
          </a:solidFill>
          <a:ln w="12700">
            <a:solidFill>
              <a:schemeClr val="accent1"/>
            </a:solidFill>
            <a:prstDash val="solid"/>
          </a:ln>
        </p:spPr>
      </p:sp>
      <p:pic>
        <p:nvPicPr>
          <p:cNvPr id="21" name="Image 3" descr="Tip 2 icon">    </p:cNvPr>
          <p:cNvPicPr>
            <a:picLocks noChangeAspect="1"/>
          </p:cNvPicPr>
          <p:nvPr/>
        </p:nvPicPr>
        <p:blipFill>
          <a:blip r:embed="rId4"/>
          <a:stretch>
            <a:fillRect/>
          </a:stretch>
        </p:blipFill>
        <p:spPr>
          <a:xfrm>
            <a:off x="3684300" y="4077492"/>
            <a:ext cx="257495" cy="257495"/>
          </a:xfrm>
          <a:prstGeom prst="rect">
            <a:avLst/>
          </a:prstGeom>
        </p:spPr>
      </p:pic>
      <p:sp>
        <p:nvSpPr>
          <p:cNvPr id="22" name="Tip text 2"/>
          <p:cNvSpPr txBox="1"/>
          <p:nvPr/>
        </p:nvSpPr>
        <p:spPr>
          <a:xfrm>
            <a:off x="4251960" y="3749040"/>
            <a:ext cx="1508760" cy="914400"/>
          </a:xfrm>
          <a:prstGeom prst="rect">
            <a:avLst/>
          </a:prstGeom>
          <a:noFill/>
          <a:ln/>
        </p:spPr>
        <p:txBody>
          <a:bodyPr wrap="square" lIns="0" tIns="0" rIns="0" bIns="0" rtlCol="0" anchor="ctr"/>
          <a:lstStyle/>
          <a:p>
            <a:pPr indent="0" marL="0">
              <a:buNone/>
            </a:pPr>
            <a:r>
              <a:rPr lang="en-US" sz="1400" b="1" dirty="0">
                <a:solidFill>
                  <a:schemeClr val="bg1"/>
                </a:solidFill>
              </a:rPr>
              <a:t>Turn on MFA everywhere</a:t>
            </a:r>
            <a:endParaRPr lang="en-US" sz="1400" dirty="0"/>
          </a:p>
        </p:txBody>
      </p:sp>
      <p:sp>
        <p:nvSpPr>
          <p:cNvPr id="23" name="Tip chip 3"/>
          <p:cNvSpPr/>
          <p:nvPr/>
        </p:nvSpPr>
        <p:spPr>
          <a:xfrm>
            <a:off x="6126480" y="3749040"/>
            <a:ext cx="2514600" cy="914400"/>
          </a:xfrm>
          <a:prstGeom prst="roundRect">
            <a:avLst>
              <a:gd name="adj" fmla="val 12000"/>
            </a:avLst>
          </a:prstGeom>
          <a:solidFill>
            <a:schemeClr val="tx2"/>
          </a:solidFill>
          <a:ln w="12700">
            <a:solidFill>
              <a:schemeClr val="tx2"/>
            </a:solidFill>
            <a:prstDash val="solid"/>
          </a:ln>
        </p:spPr>
      </p:sp>
      <p:sp>
        <p:nvSpPr>
          <p:cNvPr id="24" name="Tip 3 badge"/>
          <p:cNvSpPr/>
          <p:nvPr/>
        </p:nvSpPr>
        <p:spPr>
          <a:xfrm>
            <a:off x="6309360" y="3913632"/>
            <a:ext cx="585216" cy="585216"/>
          </a:xfrm>
          <a:prstGeom prst="ellipse">
            <a:avLst/>
          </a:prstGeom>
          <a:solidFill>
            <a:schemeClr val="accent1">
              <a:alpha val="20000"/>
            </a:schemeClr>
          </a:solidFill>
          <a:ln w="12700">
            <a:solidFill>
              <a:schemeClr val="accent1"/>
            </a:solidFill>
            <a:prstDash val="solid"/>
          </a:ln>
        </p:spPr>
      </p:sp>
      <p:pic>
        <p:nvPicPr>
          <p:cNvPr id="25" name="Image 4" descr="Tip 3 icon">    </p:cNvPr>
          <p:cNvPicPr>
            <a:picLocks noChangeAspect="1"/>
          </p:cNvPicPr>
          <p:nvPr/>
        </p:nvPicPr>
        <p:blipFill>
          <a:blip r:embed="rId5"/>
          <a:stretch>
            <a:fillRect/>
          </a:stretch>
        </p:blipFill>
        <p:spPr>
          <a:xfrm>
            <a:off x="6473220" y="4077492"/>
            <a:ext cx="257495" cy="257495"/>
          </a:xfrm>
          <a:prstGeom prst="rect">
            <a:avLst/>
          </a:prstGeom>
        </p:spPr>
      </p:pic>
      <p:sp>
        <p:nvSpPr>
          <p:cNvPr id="26" name="Tip text 3"/>
          <p:cNvSpPr txBox="1"/>
          <p:nvPr/>
        </p:nvSpPr>
        <p:spPr>
          <a:xfrm>
            <a:off x="7040880" y="3749040"/>
            <a:ext cx="1508760" cy="914400"/>
          </a:xfrm>
          <a:prstGeom prst="rect">
            <a:avLst/>
          </a:prstGeom>
          <a:noFill/>
          <a:ln/>
        </p:spPr>
        <p:txBody>
          <a:bodyPr wrap="square" lIns="0" tIns="0" rIns="0" bIns="0" rtlCol="0" anchor="ctr"/>
          <a:lstStyle/>
          <a:p>
            <a:pPr indent="0" marL="0">
              <a:buNone/>
            </a:pPr>
            <a:r>
              <a:rPr lang="en-US" sz="1400" b="1" dirty="0">
                <a:solidFill>
                  <a:schemeClr val="bg1"/>
                </a:solidFill>
              </a:rPr>
              <a:t>Never reuse passwords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label"/>
          <p:cNvSpPr txBox="1"/>
          <p:nvPr/>
        </p:nvSpPr>
        <p:spPr>
          <a:xfrm>
            <a:off x="548640" y="256032"/>
            <a:ext cx="804672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MODULE 03 · DEVICE SAFETY</a:t>
            </a:r>
            <a:endParaRPr lang="en-US" sz="1100" dirty="0"/>
          </a:p>
        </p:txBody>
      </p:sp>
      <p:sp>
        <p:nvSpPr>
          <p:cNvPr id="3" name="Text 1"/>
          <p:cNvSpPr/>
          <p:nvPr>
            <p:ph idx="101" type="title" hasCustomPrompt="1"/>
          </p:nvPr>
        </p:nvSpPr>
        <p:spPr>
          <a:xfrm>
            <a:off x="548640" y="502920"/>
            <a:ext cx="8046720" cy="640080"/>
          </a:xfrm>
          <a:prstGeom prst="rect">
            <a:avLst/>
          </a:prstGeom>
          <a:noFill/>
          <a:ln/>
        </p:spPr>
        <p:txBody>
          <a:bodyPr wrap="square" lIns="0" tIns="0" rIns="0" bIns="0" rtlCol="0" anchor="ctr"/>
          <a:lstStyle/>
          <a:p>
            <a:pPr algn="l" indent="0" marL="0">
              <a:buNone/>
            </a:pPr>
            <a:r>
              <a:rPr lang="en-US" sz="3400" b="1" dirty="0">
                <a:solidFill>
                  <a:schemeClr val="bg1"/>
                </a:solidFill>
              </a:rPr>
              <a:t>Keep Your Devices Safe</a:t>
            </a:r>
            <a:endParaRPr lang="en-US" sz="3400" dirty="0"/>
          </a:p>
        </p:txBody>
      </p:sp>
      <p:sp>
        <p:nvSpPr>
          <p:cNvPr id="5" name="Device card 1"/>
          <p:cNvSpPr/>
          <p:nvPr/>
        </p:nvSpPr>
        <p:spPr>
          <a:xfrm>
            <a:off x="548640" y="1371600"/>
            <a:ext cx="2514600" cy="1554480"/>
          </a:xfrm>
          <a:prstGeom prst="roundRect">
            <a:avLst>
              <a:gd name="adj" fmla="val 7059"/>
            </a:avLst>
          </a:prstGeom>
          <a:solidFill>
            <a:schemeClr val="tx2"/>
          </a:solidFill>
          <a:ln w="12700">
            <a:solidFill>
              <a:schemeClr val="tx2"/>
            </a:solidFill>
            <a:prstDash val="solid"/>
          </a:ln>
        </p:spPr>
      </p:sp>
      <p:sp>
        <p:nvSpPr>
          <p:cNvPr id="6" name="Device 1 badge"/>
          <p:cNvSpPr/>
          <p:nvPr/>
        </p:nvSpPr>
        <p:spPr>
          <a:xfrm>
            <a:off x="731520" y="1508760"/>
            <a:ext cx="502920" cy="502920"/>
          </a:xfrm>
          <a:prstGeom prst="ellipse">
            <a:avLst/>
          </a:prstGeom>
          <a:solidFill>
            <a:schemeClr val="accent1">
              <a:alpha val="20000"/>
            </a:schemeClr>
          </a:solidFill>
          <a:ln w="12700">
            <a:solidFill>
              <a:schemeClr val="accent1"/>
            </a:solidFill>
            <a:prstDash val="solid"/>
          </a:ln>
        </p:spPr>
      </p:sp>
      <p:pic>
        <p:nvPicPr>
          <p:cNvPr id="7" name="Image 0" descr="Device 1 icon">    </p:cNvPr>
          <p:cNvPicPr>
            <a:picLocks noChangeAspect="1"/>
          </p:cNvPicPr>
          <p:nvPr/>
        </p:nvPicPr>
        <p:blipFill>
          <a:blip r:embed="rId1"/>
          <a:stretch>
            <a:fillRect/>
          </a:stretch>
        </p:blipFill>
        <p:spPr>
          <a:xfrm>
            <a:off x="872338" y="1649578"/>
            <a:ext cx="221285" cy="221285"/>
          </a:xfrm>
          <a:prstGeom prst="rect">
            <a:avLst/>
          </a:prstGeom>
        </p:spPr>
      </p:pic>
      <p:sp>
        <p:nvSpPr>
          <p:cNvPr id="8" name="Device title 1"/>
          <p:cNvSpPr txBox="1"/>
          <p:nvPr/>
        </p:nvSpPr>
        <p:spPr>
          <a:xfrm>
            <a:off x="731520" y="2075688"/>
            <a:ext cx="2194560" cy="274320"/>
          </a:xfrm>
          <a:prstGeom prst="rect">
            <a:avLst/>
          </a:prstGeom>
          <a:noFill/>
          <a:ln/>
        </p:spPr>
        <p:txBody>
          <a:bodyPr wrap="square" lIns="0" tIns="0" rIns="0" bIns="0" rtlCol="0" anchor="ctr"/>
          <a:lstStyle/>
          <a:p>
            <a:pPr indent="0" marL="0">
              <a:buNone/>
            </a:pPr>
            <a:r>
              <a:rPr lang="en-US" sz="1600" b="1" dirty="0">
                <a:solidFill>
                  <a:schemeClr val="bg1"/>
                </a:solidFill>
              </a:rPr>
              <a:t>Update everything</a:t>
            </a:r>
            <a:endParaRPr lang="en-US" sz="1600" dirty="0"/>
          </a:p>
        </p:txBody>
      </p:sp>
      <p:sp>
        <p:nvSpPr>
          <p:cNvPr id="9" name="Device desc 1"/>
          <p:cNvSpPr txBox="1"/>
          <p:nvPr/>
        </p:nvSpPr>
        <p:spPr>
          <a:xfrm>
            <a:off x="731520" y="2350008"/>
            <a:ext cx="2194560" cy="502920"/>
          </a:xfrm>
          <a:prstGeom prst="rect">
            <a:avLst/>
          </a:prstGeom>
          <a:noFill/>
          <a:ln/>
        </p:spPr>
        <p:txBody>
          <a:bodyPr wrap="square" lIns="0" tIns="0" rIns="0" bIns="0" rtlCol="0" anchor="t"/>
          <a:lstStyle/>
          <a:p>
            <a:pPr indent="0" marL="0">
              <a:buNone/>
            </a:pPr>
            <a:r>
              <a:rPr lang="en-US" sz="1400" dirty="0">
                <a:solidFill>
                  <a:schemeClr val="bg2"/>
                </a:solidFill>
              </a:rPr>
              <a:t>Patches close known holes</a:t>
            </a:r>
            <a:endParaRPr lang="en-US" sz="1400" dirty="0"/>
          </a:p>
        </p:txBody>
      </p:sp>
      <p:sp>
        <p:nvSpPr>
          <p:cNvPr id="10" name="Device card 2"/>
          <p:cNvSpPr/>
          <p:nvPr/>
        </p:nvSpPr>
        <p:spPr>
          <a:xfrm>
            <a:off x="3291840" y="1371600"/>
            <a:ext cx="2514600" cy="1554480"/>
          </a:xfrm>
          <a:prstGeom prst="roundRect">
            <a:avLst>
              <a:gd name="adj" fmla="val 7059"/>
            </a:avLst>
          </a:prstGeom>
          <a:solidFill>
            <a:schemeClr val="tx2"/>
          </a:solidFill>
          <a:ln w="12700">
            <a:solidFill>
              <a:schemeClr val="tx2"/>
            </a:solidFill>
            <a:prstDash val="solid"/>
          </a:ln>
        </p:spPr>
      </p:sp>
      <p:sp>
        <p:nvSpPr>
          <p:cNvPr id="11" name="Device 2 badge"/>
          <p:cNvSpPr/>
          <p:nvPr/>
        </p:nvSpPr>
        <p:spPr>
          <a:xfrm>
            <a:off x="3474720" y="1508760"/>
            <a:ext cx="502920" cy="502920"/>
          </a:xfrm>
          <a:prstGeom prst="ellipse">
            <a:avLst/>
          </a:prstGeom>
          <a:solidFill>
            <a:schemeClr val="accent1">
              <a:alpha val="20000"/>
            </a:schemeClr>
          </a:solidFill>
          <a:ln w="12700">
            <a:solidFill>
              <a:schemeClr val="accent1"/>
            </a:solidFill>
            <a:prstDash val="solid"/>
          </a:ln>
        </p:spPr>
      </p:sp>
      <p:pic>
        <p:nvPicPr>
          <p:cNvPr id="12" name="Image 1" descr="Device 2 icon">    </p:cNvPr>
          <p:cNvPicPr>
            <a:picLocks noChangeAspect="1"/>
          </p:cNvPicPr>
          <p:nvPr/>
        </p:nvPicPr>
        <p:blipFill>
          <a:blip r:embed="rId2"/>
          <a:stretch>
            <a:fillRect/>
          </a:stretch>
        </p:blipFill>
        <p:spPr>
          <a:xfrm>
            <a:off x="3615538" y="1649578"/>
            <a:ext cx="221285" cy="221285"/>
          </a:xfrm>
          <a:prstGeom prst="rect">
            <a:avLst/>
          </a:prstGeom>
        </p:spPr>
      </p:pic>
      <p:sp>
        <p:nvSpPr>
          <p:cNvPr id="13" name="Device title 2"/>
          <p:cNvSpPr txBox="1"/>
          <p:nvPr/>
        </p:nvSpPr>
        <p:spPr>
          <a:xfrm>
            <a:off x="3474720" y="2075688"/>
            <a:ext cx="2194560" cy="274320"/>
          </a:xfrm>
          <a:prstGeom prst="rect">
            <a:avLst/>
          </a:prstGeom>
          <a:noFill/>
          <a:ln/>
        </p:spPr>
        <p:txBody>
          <a:bodyPr wrap="square" lIns="0" tIns="0" rIns="0" bIns="0" rtlCol="0" anchor="ctr"/>
          <a:lstStyle/>
          <a:p>
            <a:pPr indent="0" marL="0">
              <a:buNone/>
            </a:pPr>
            <a:r>
              <a:rPr lang="en-US" sz="1600" b="1" dirty="0">
                <a:solidFill>
                  <a:schemeClr val="bg1"/>
                </a:solidFill>
              </a:rPr>
              <a:t>Lock it up</a:t>
            </a:r>
            <a:endParaRPr lang="en-US" sz="1600" dirty="0"/>
          </a:p>
        </p:txBody>
      </p:sp>
      <p:sp>
        <p:nvSpPr>
          <p:cNvPr id="14" name="Device desc 2"/>
          <p:cNvSpPr txBox="1"/>
          <p:nvPr/>
        </p:nvSpPr>
        <p:spPr>
          <a:xfrm>
            <a:off x="3474720" y="2350008"/>
            <a:ext cx="2194560" cy="502920"/>
          </a:xfrm>
          <a:prstGeom prst="rect">
            <a:avLst/>
          </a:prstGeom>
          <a:noFill/>
          <a:ln/>
        </p:spPr>
        <p:txBody>
          <a:bodyPr wrap="square" lIns="0" tIns="0" rIns="0" bIns="0" rtlCol="0" anchor="t"/>
          <a:lstStyle/>
          <a:p>
            <a:pPr indent="0" marL="0">
              <a:buNone/>
            </a:pPr>
            <a:r>
              <a:rPr lang="en-US" sz="1400" dirty="0">
                <a:solidFill>
                  <a:schemeClr val="bg2"/>
                </a:solidFill>
              </a:rPr>
              <a:t>Screen lock and encryption on</a:t>
            </a:r>
            <a:endParaRPr lang="en-US" sz="1400" dirty="0"/>
          </a:p>
        </p:txBody>
      </p:sp>
      <p:sp>
        <p:nvSpPr>
          <p:cNvPr id="15" name="Device card 3"/>
          <p:cNvSpPr/>
          <p:nvPr/>
        </p:nvSpPr>
        <p:spPr>
          <a:xfrm>
            <a:off x="6035040" y="1371600"/>
            <a:ext cx="2514600" cy="1554480"/>
          </a:xfrm>
          <a:prstGeom prst="roundRect">
            <a:avLst>
              <a:gd name="adj" fmla="val 7059"/>
            </a:avLst>
          </a:prstGeom>
          <a:solidFill>
            <a:schemeClr val="tx2"/>
          </a:solidFill>
          <a:ln w="12700">
            <a:solidFill>
              <a:schemeClr val="tx2"/>
            </a:solidFill>
            <a:prstDash val="solid"/>
          </a:ln>
        </p:spPr>
      </p:sp>
      <p:sp>
        <p:nvSpPr>
          <p:cNvPr id="16" name="Device 3 badge"/>
          <p:cNvSpPr/>
          <p:nvPr/>
        </p:nvSpPr>
        <p:spPr>
          <a:xfrm>
            <a:off x="6217920" y="1508760"/>
            <a:ext cx="502920" cy="502920"/>
          </a:xfrm>
          <a:prstGeom prst="ellipse">
            <a:avLst/>
          </a:prstGeom>
          <a:solidFill>
            <a:schemeClr val="accent1">
              <a:alpha val="20000"/>
            </a:schemeClr>
          </a:solidFill>
          <a:ln w="12700">
            <a:solidFill>
              <a:schemeClr val="accent1"/>
            </a:solidFill>
            <a:prstDash val="solid"/>
          </a:ln>
        </p:spPr>
      </p:sp>
      <p:pic>
        <p:nvPicPr>
          <p:cNvPr id="17" name="Image 2" descr="Device 3 icon">    </p:cNvPr>
          <p:cNvPicPr>
            <a:picLocks noChangeAspect="1"/>
          </p:cNvPicPr>
          <p:nvPr/>
        </p:nvPicPr>
        <p:blipFill>
          <a:blip r:embed="rId3"/>
          <a:stretch>
            <a:fillRect/>
          </a:stretch>
        </p:blipFill>
        <p:spPr>
          <a:xfrm>
            <a:off x="6358738" y="1649578"/>
            <a:ext cx="221285" cy="221285"/>
          </a:xfrm>
          <a:prstGeom prst="rect">
            <a:avLst/>
          </a:prstGeom>
        </p:spPr>
      </p:pic>
      <p:sp>
        <p:nvSpPr>
          <p:cNvPr id="18" name="Device title 3"/>
          <p:cNvSpPr txBox="1"/>
          <p:nvPr/>
        </p:nvSpPr>
        <p:spPr>
          <a:xfrm>
            <a:off x="6217920" y="2075688"/>
            <a:ext cx="2194560" cy="274320"/>
          </a:xfrm>
          <a:prstGeom prst="rect">
            <a:avLst/>
          </a:prstGeom>
          <a:noFill/>
          <a:ln/>
        </p:spPr>
        <p:txBody>
          <a:bodyPr wrap="square" lIns="0" tIns="0" rIns="0" bIns="0" rtlCol="0" anchor="ctr"/>
          <a:lstStyle/>
          <a:p>
            <a:pPr indent="0" marL="0">
              <a:buNone/>
            </a:pPr>
            <a:r>
              <a:rPr lang="en-US" sz="1600" b="1" dirty="0">
                <a:solidFill>
                  <a:schemeClr val="bg1"/>
                </a:solidFill>
              </a:rPr>
              <a:t>Avoid public Wi‑Fi</a:t>
            </a:r>
            <a:endParaRPr lang="en-US" sz="1600" dirty="0"/>
          </a:p>
        </p:txBody>
      </p:sp>
      <p:sp>
        <p:nvSpPr>
          <p:cNvPr id="19" name="Device desc 3"/>
          <p:cNvSpPr txBox="1"/>
          <p:nvPr/>
        </p:nvSpPr>
        <p:spPr>
          <a:xfrm>
            <a:off x="6217920" y="2350008"/>
            <a:ext cx="2194560" cy="502920"/>
          </a:xfrm>
          <a:prstGeom prst="rect">
            <a:avLst/>
          </a:prstGeom>
          <a:noFill/>
          <a:ln/>
        </p:spPr>
        <p:txBody>
          <a:bodyPr wrap="square" lIns="0" tIns="0" rIns="0" bIns="0" rtlCol="0" anchor="t"/>
          <a:lstStyle/>
          <a:p>
            <a:pPr indent="0" marL="0">
              <a:buNone/>
            </a:pPr>
            <a:r>
              <a:rPr lang="en-US" sz="1400" dirty="0">
                <a:solidFill>
                  <a:schemeClr val="bg2"/>
                </a:solidFill>
              </a:rPr>
              <a:t>Use a VPN or your hotspot</a:t>
            </a:r>
            <a:endParaRPr lang="en-US" sz="1400" dirty="0"/>
          </a:p>
        </p:txBody>
      </p:sp>
      <p:sp>
        <p:nvSpPr>
          <p:cNvPr id="20" name="Device card 4"/>
          <p:cNvSpPr/>
          <p:nvPr/>
        </p:nvSpPr>
        <p:spPr>
          <a:xfrm>
            <a:off x="548640" y="3108960"/>
            <a:ext cx="2514600" cy="1554480"/>
          </a:xfrm>
          <a:prstGeom prst="roundRect">
            <a:avLst>
              <a:gd name="adj" fmla="val 7059"/>
            </a:avLst>
          </a:prstGeom>
          <a:solidFill>
            <a:schemeClr val="tx2"/>
          </a:solidFill>
          <a:ln w="12700">
            <a:solidFill>
              <a:schemeClr val="tx2"/>
            </a:solidFill>
            <a:prstDash val="solid"/>
          </a:ln>
        </p:spPr>
      </p:sp>
      <p:sp>
        <p:nvSpPr>
          <p:cNvPr id="21" name="Device 4 badge"/>
          <p:cNvSpPr/>
          <p:nvPr/>
        </p:nvSpPr>
        <p:spPr>
          <a:xfrm>
            <a:off x="731520" y="3246120"/>
            <a:ext cx="502920" cy="502920"/>
          </a:xfrm>
          <a:prstGeom prst="ellipse">
            <a:avLst/>
          </a:prstGeom>
          <a:solidFill>
            <a:schemeClr val="accent1">
              <a:alpha val="20000"/>
            </a:schemeClr>
          </a:solidFill>
          <a:ln w="12700">
            <a:solidFill>
              <a:schemeClr val="accent1"/>
            </a:solidFill>
            <a:prstDash val="solid"/>
          </a:ln>
        </p:spPr>
      </p:sp>
      <p:pic>
        <p:nvPicPr>
          <p:cNvPr id="22" name="Image 3" descr="Device 4 icon">    </p:cNvPr>
          <p:cNvPicPr>
            <a:picLocks noChangeAspect="1"/>
          </p:cNvPicPr>
          <p:nvPr/>
        </p:nvPicPr>
        <p:blipFill>
          <a:blip r:embed="rId4"/>
          <a:stretch>
            <a:fillRect/>
          </a:stretch>
        </p:blipFill>
        <p:spPr>
          <a:xfrm>
            <a:off x="872338" y="3386938"/>
            <a:ext cx="221285" cy="221285"/>
          </a:xfrm>
          <a:prstGeom prst="rect">
            <a:avLst/>
          </a:prstGeom>
        </p:spPr>
      </p:pic>
      <p:sp>
        <p:nvSpPr>
          <p:cNvPr id="23" name="Device title 4"/>
          <p:cNvSpPr txBox="1"/>
          <p:nvPr/>
        </p:nvSpPr>
        <p:spPr>
          <a:xfrm>
            <a:off x="731520" y="3813048"/>
            <a:ext cx="2194560" cy="274320"/>
          </a:xfrm>
          <a:prstGeom prst="rect">
            <a:avLst/>
          </a:prstGeom>
          <a:noFill/>
          <a:ln/>
        </p:spPr>
        <p:txBody>
          <a:bodyPr wrap="square" lIns="0" tIns="0" rIns="0" bIns="0" rtlCol="0" anchor="ctr"/>
          <a:lstStyle/>
          <a:p>
            <a:pPr indent="0" marL="0">
              <a:buNone/>
            </a:pPr>
            <a:r>
              <a:rPr lang="en-US" sz="1600" b="1" dirty="0">
                <a:solidFill>
                  <a:schemeClr val="bg1"/>
                </a:solidFill>
              </a:rPr>
              <a:t>Skip unknown USBs</a:t>
            </a:r>
            <a:endParaRPr lang="en-US" sz="1600" dirty="0"/>
          </a:p>
        </p:txBody>
      </p:sp>
      <p:sp>
        <p:nvSpPr>
          <p:cNvPr id="24" name="Device desc 4"/>
          <p:cNvSpPr txBox="1"/>
          <p:nvPr/>
        </p:nvSpPr>
        <p:spPr>
          <a:xfrm>
            <a:off x="731520" y="4087368"/>
            <a:ext cx="2194560" cy="502920"/>
          </a:xfrm>
          <a:prstGeom prst="rect">
            <a:avLst/>
          </a:prstGeom>
          <a:noFill/>
          <a:ln/>
        </p:spPr>
        <p:txBody>
          <a:bodyPr wrap="square" lIns="0" tIns="0" rIns="0" bIns="0" rtlCol="0" anchor="t"/>
          <a:lstStyle/>
          <a:p>
            <a:pPr indent="0" marL="0">
              <a:buNone/>
            </a:pPr>
            <a:r>
              <a:rPr lang="en-US" sz="1400" dirty="0">
                <a:solidFill>
                  <a:schemeClr val="bg2"/>
                </a:solidFill>
              </a:rPr>
              <a:t>Never plug in found drives</a:t>
            </a:r>
            <a:endParaRPr lang="en-US" sz="1400" dirty="0"/>
          </a:p>
        </p:txBody>
      </p:sp>
      <p:sp>
        <p:nvSpPr>
          <p:cNvPr id="25" name="Device card 5"/>
          <p:cNvSpPr/>
          <p:nvPr/>
        </p:nvSpPr>
        <p:spPr>
          <a:xfrm>
            <a:off x="3291840" y="3108960"/>
            <a:ext cx="2514600" cy="1554480"/>
          </a:xfrm>
          <a:prstGeom prst="roundRect">
            <a:avLst>
              <a:gd name="adj" fmla="val 7059"/>
            </a:avLst>
          </a:prstGeom>
          <a:solidFill>
            <a:schemeClr val="tx2"/>
          </a:solidFill>
          <a:ln w="12700">
            <a:solidFill>
              <a:schemeClr val="tx2"/>
            </a:solidFill>
            <a:prstDash val="solid"/>
          </a:ln>
        </p:spPr>
      </p:sp>
      <p:sp>
        <p:nvSpPr>
          <p:cNvPr id="26" name="Device 5 badge"/>
          <p:cNvSpPr/>
          <p:nvPr/>
        </p:nvSpPr>
        <p:spPr>
          <a:xfrm>
            <a:off x="3474720" y="3246120"/>
            <a:ext cx="502920" cy="502920"/>
          </a:xfrm>
          <a:prstGeom prst="ellipse">
            <a:avLst/>
          </a:prstGeom>
          <a:solidFill>
            <a:schemeClr val="accent1">
              <a:alpha val="20000"/>
            </a:schemeClr>
          </a:solidFill>
          <a:ln w="12700">
            <a:solidFill>
              <a:schemeClr val="accent1"/>
            </a:solidFill>
            <a:prstDash val="solid"/>
          </a:ln>
        </p:spPr>
      </p:sp>
      <p:pic>
        <p:nvPicPr>
          <p:cNvPr id="27" name="Image 4" descr="Device 5 icon">    </p:cNvPr>
          <p:cNvPicPr>
            <a:picLocks noChangeAspect="1"/>
          </p:cNvPicPr>
          <p:nvPr/>
        </p:nvPicPr>
        <p:blipFill>
          <a:blip r:embed="rId5"/>
          <a:stretch>
            <a:fillRect/>
          </a:stretch>
        </p:blipFill>
        <p:spPr>
          <a:xfrm>
            <a:off x="3615538" y="3386938"/>
            <a:ext cx="221285" cy="221285"/>
          </a:xfrm>
          <a:prstGeom prst="rect">
            <a:avLst/>
          </a:prstGeom>
        </p:spPr>
      </p:pic>
      <p:sp>
        <p:nvSpPr>
          <p:cNvPr id="28" name="Device title 5"/>
          <p:cNvSpPr txBox="1"/>
          <p:nvPr/>
        </p:nvSpPr>
        <p:spPr>
          <a:xfrm>
            <a:off x="3474720" y="3813048"/>
            <a:ext cx="2194560" cy="274320"/>
          </a:xfrm>
          <a:prstGeom prst="rect">
            <a:avLst/>
          </a:prstGeom>
          <a:noFill/>
          <a:ln/>
        </p:spPr>
        <p:txBody>
          <a:bodyPr wrap="square" lIns="0" tIns="0" rIns="0" bIns="0" rtlCol="0" anchor="ctr"/>
          <a:lstStyle/>
          <a:p>
            <a:pPr indent="0" marL="0">
              <a:buNone/>
            </a:pPr>
            <a:r>
              <a:rPr lang="en-US" sz="1600" b="1" dirty="0">
                <a:solidFill>
                  <a:schemeClr val="bg1"/>
                </a:solidFill>
              </a:rPr>
              <a:t>Back up your data</a:t>
            </a:r>
            <a:endParaRPr lang="en-US" sz="1600" dirty="0"/>
          </a:p>
        </p:txBody>
      </p:sp>
      <p:sp>
        <p:nvSpPr>
          <p:cNvPr id="29" name="Device desc 5"/>
          <p:cNvSpPr txBox="1"/>
          <p:nvPr/>
        </p:nvSpPr>
        <p:spPr>
          <a:xfrm>
            <a:off x="3474720" y="4087368"/>
            <a:ext cx="2194560" cy="502920"/>
          </a:xfrm>
          <a:prstGeom prst="rect">
            <a:avLst/>
          </a:prstGeom>
          <a:noFill/>
          <a:ln/>
        </p:spPr>
        <p:txBody>
          <a:bodyPr wrap="square" lIns="0" tIns="0" rIns="0" bIns="0" rtlCol="0" anchor="t"/>
          <a:lstStyle/>
          <a:p>
            <a:pPr indent="0" marL="0">
              <a:buNone/>
            </a:pPr>
            <a:r>
              <a:rPr lang="en-US" sz="1400" dirty="0">
                <a:solidFill>
                  <a:schemeClr val="bg2"/>
                </a:solidFill>
              </a:rPr>
              <a:t>Recover fast from attacks</a:t>
            </a:r>
            <a:endParaRPr lang="en-US" sz="1400" dirty="0"/>
          </a:p>
        </p:txBody>
      </p:sp>
      <p:sp>
        <p:nvSpPr>
          <p:cNvPr id="30" name="Device card 6"/>
          <p:cNvSpPr/>
          <p:nvPr/>
        </p:nvSpPr>
        <p:spPr>
          <a:xfrm>
            <a:off x="6035040" y="3108960"/>
            <a:ext cx="2514600" cy="1554480"/>
          </a:xfrm>
          <a:prstGeom prst="roundRect">
            <a:avLst>
              <a:gd name="adj" fmla="val 7059"/>
            </a:avLst>
          </a:prstGeom>
          <a:solidFill>
            <a:schemeClr val="tx2"/>
          </a:solidFill>
          <a:ln w="12700">
            <a:solidFill>
              <a:schemeClr val="tx2"/>
            </a:solidFill>
            <a:prstDash val="solid"/>
          </a:ln>
        </p:spPr>
      </p:sp>
      <p:sp>
        <p:nvSpPr>
          <p:cNvPr id="31" name="Device 6 badge"/>
          <p:cNvSpPr/>
          <p:nvPr/>
        </p:nvSpPr>
        <p:spPr>
          <a:xfrm>
            <a:off x="6217920" y="3246120"/>
            <a:ext cx="502920" cy="502920"/>
          </a:xfrm>
          <a:prstGeom prst="ellipse">
            <a:avLst/>
          </a:prstGeom>
          <a:solidFill>
            <a:schemeClr val="accent1">
              <a:alpha val="20000"/>
            </a:schemeClr>
          </a:solidFill>
          <a:ln w="12700">
            <a:solidFill>
              <a:schemeClr val="accent1"/>
            </a:solidFill>
            <a:prstDash val="solid"/>
          </a:ln>
        </p:spPr>
      </p:sp>
      <p:pic>
        <p:nvPicPr>
          <p:cNvPr id="32" name="Image 5" descr="Device 6 icon">    </p:cNvPr>
          <p:cNvPicPr>
            <a:picLocks noChangeAspect="1"/>
          </p:cNvPicPr>
          <p:nvPr/>
        </p:nvPicPr>
        <p:blipFill>
          <a:blip r:embed="rId6"/>
          <a:stretch>
            <a:fillRect/>
          </a:stretch>
        </p:blipFill>
        <p:spPr>
          <a:xfrm>
            <a:off x="6358738" y="3386938"/>
            <a:ext cx="221285" cy="221285"/>
          </a:xfrm>
          <a:prstGeom prst="rect">
            <a:avLst/>
          </a:prstGeom>
        </p:spPr>
      </p:pic>
      <p:sp>
        <p:nvSpPr>
          <p:cNvPr id="33" name="Device title 6"/>
          <p:cNvSpPr txBox="1"/>
          <p:nvPr/>
        </p:nvSpPr>
        <p:spPr>
          <a:xfrm>
            <a:off x="6217920" y="3813048"/>
            <a:ext cx="2194560" cy="274320"/>
          </a:xfrm>
          <a:prstGeom prst="rect">
            <a:avLst/>
          </a:prstGeom>
          <a:noFill/>
          <a:ln/>
        </p:spPr>
        <p:txBody>
          <a:bodyPr wrap="square" lIns="0" tIns="0" rIns="0" bIns="0" rtlCol="0" anchor="ctr"/>
          <a:lstStyle/>
          <a:p>
            <a:pPr indent="0" marL="0">
              <a:buNone/>
            </a:pPr>
            <a:r>
              <a:rPr lang="en-US" sz="1600" b="1" dirty="0">
                <a:solidFill>
                  <a:schemeClr val="bg1"/>
                </a:solidFill>
              </a:rPr>
              <a:t>Report lost devices</a:t>
            </a:r>
            <a:endParaRPr lang="en-US" sz="1600" dirty="0"/>
          </a:p>
        </p:txBody>
      </p:sp>
      <p:sp>
        <p:nvSpPr>
          <p:cNvPr id="34" name="Device desc 6"/>
          <p:cNvSpPr txBox="1"/>
          <p:nvPr/>
        </p:nvSpPr>
        <p:spPr>
          <a:xfrm>
            <a:off x="6217920" y="4087368"/>
            <a:ext cx="2194560" cy="502920"/>
          </a:xfrm>
          <a:prstGeom prst="rect">
            <a:avLst/>
          </a:prstGeom>
          <a:noFill/>
          <a:ln/>
        </p:spPr>
        <p:txBody>
          <a:bodyPr wrap="square" lIns="0" tIns="0" rIns="0" bIns="0" rtlCol="0" anchor="t"/>
          <a:lstStyle/>
          <a:p>
            <a:pPr indent="0" marL="0">
              <a:buNone/>
            </a:pPr>
            <a:r>
              <a:rPr lang="en-US" sz="1400" dirty="0">
                <a:solidFill>
                  <a:schemeClr val="bg2"/>
                </a:solidFill>
              </a:rPr>
              <a:t>Tell IT right away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label"/>
          <p:cNvSpPr txBox="1"/>
          <p:nvPr/>
        </p:nvSpPr>
        <p:spPr>
          <a:xfrm>
            <a:off x="548640" y="256032"/>
            <a:ext cx="804672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MODULE 04 · REAL-WORLD CASE</a:t>
            </a:r>
            <a:endParaRPr lang="en-US" sz="1100" dirty="0"/>
          </a:p>
        </p:txBody>
      </p:sp>
      <p:sp>
        <p:nvSpPr>
          <p:cNvPr id="3" name="Text 1"/>
          <p:cNvSpPr/>
          <p:nvPr>
            <p:ph idx="101" type="title" hasCustomPrompt="1"/>
          </p:nvPr>
        </p:nvSpPr>
        <p:spPr>
          <a:xfrm>
            <a:off x="548640" y="502920"/>
            <a:ext cx="8046720" cy="640080"/>
          </a:xfrm>
          <a:prstGeom prst="rect">
            <a:avLst/>
          </a:prstGeom>
          <a:noFill/>
          <a:ln/>
        </p:spPr>
        <p:txBody>
          <a:bodyPr wrap="square" lIns="0" tIns="0" rIns="0" bIns="0" rtlCol="0" anchor="ctr"/>
          <a:lstStyle/>
          <a:p>
            <a:pPr algn="l" indent="0" marL="0">
              <a:buNone/>
            </a:pPr>
            <a:r>
              <a:rPr lang="en-US" sz="3400" b="1" dirty="0">
                <a:solidFill>
                  <a:schemeClr val="bg1"/>
                </a:solidFill>
              </a:rPr>
              <a:t>Case Study: MGM Resorts</a:t>
            </a:r>
            <a:endParaRPr lang="en-US" sz="3400" dirty="0"/>
          </a:p>
        </p:txBody>
      </p:sp>
      <p:sp>
        <p:nvSpPr>
          <p:cNvPr id="5" name="Case intro"/>
          <p:cNvSpPr txBox="1"/>
          <p:nvPr/>
        </p:nvSpPr>
        <p:spPr>
          <a:xfrm>
            <a:off x="548640" y="1280160"/>
            <a:ext cx="8046720" cy="365760"/>
          </a:xfrm>
          <a:prstGeom prst="rect">
            <a:avLst/>
          </a:prstGeom>
          <a:noFill/>
          <a:ln/>
        </p:spPr>
        <p:txBody>
          <a:bodyPr wrap="square" lIns="0" tIns="0" rIns="0" bIns="0" rtlCol="0" anchor="ctr"/>
          <a:lstStyle/>
          <a:p>
            <a:pPr indent="0" marL="0">
              <a:buNone/>
            </a:pPr>
            <a:r>
              <a:rPr lang="en-US" sz="1600" i="1" dirty="0">
                <a:solidFill>
                  <a:schemeClr val="bg2"/>
                </a:solidFill>
              </a:rPr>
              <a:t>A single phone call to the help desk disrupted hotel and casino operations (Sept 2023).</a:t>
            </a:r>
            <a:endParaRPr lang="en-US" sz="1600" dirty="0"/>
          </a:p>
        </p:txBody>
      </p:sp>
      <p:sp>
        <p:nvSpPr>
          <p:cNvPr id="6" name="Timeline line"/>
          <p:cNvSpPr/>
          <p:nvPr/>
        </p:nvSpPr>
        <p:spPr>
          <a:xfrm>
            <a:off x="1371600" y="2148840"/>
            <a:ext cx="6400800" cy="0"/>
          </a:xfrm>
          <a:prstGeom prst="line">
            <a:avLst/>
          </a:prstGeom>
          <a:noFill/>
          <a:ln w="19050">
            <a:solidFill>
              <a:schemeClr val="accent6"/>
            </a:solidFill>
            <a:prstDash val="solid"/>
          </a:ln>
        </p:spPr>
      </p:sp>
      <p:sp>
        <p:nvSpPr>
          <p:cNvPr id="7" name="Timeline dot 1"/>
          <p:cNvSpPr/>
          <p:nvPr/>
        </p:nvSpPr>
        <p:spPr>
          <a:xfrm>
            <a:off x="1188720" y="1874520"/>
            <a:ext cx="548640" cy="548640"/>
          </a:xfrm>
          <a:prstGeom prst="ellipse">
            <a:avLst/>
          </a:prstGeom>
          <a:solidFill>
            <a:schemeClr val="accent1"/>
          </a:solidFill>
          <a:ln w="38100">
            <a:solidFill>
              <a:schemeClr val="tx1"/>
            </a:solidFill>
            <a:prstDash val="solid"/>
          </a:ln>
        </p:spPr>
      </p:sp>
      <p:sp>
        <p:nvSpPr>
          <p:cNvPr id="8" name="Timeline num 1"/>
          <p:cNvSpPr txBox="1"/>
          <p:nvPr/>
        </p:nvSpPr>
        <p:spPr>
          <a:xfrm>
            <a:off x="1188720" y="187452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9" name="Timeline title 1"/>
          <p:cNvSpPr txBox="1"/>
          <p:nvPr/>
        </p:nvSpPr>
        <p:spPr>
          <a:xfrm>
            <a:off x="548640" y="2606040"/>
            <a:ext cx="1828800" cy="320040"/>
          </a:xfrm>
          <a:prstGeom prst="rect">
            <a:avLst/>
          </a:prstGeom>
          <a:noFill/>
          <a:ln/>
        </p:spPr>
        <p:txBody>
          <a:bodyPr wrap="square" lIns="0" tIns="0" rIns="0" bIns="0" rtlCol="0" anchor="ctr"/>
          <a:lstStyle/>
          <a:p>
            <a:pPr algn="ctr" indent="0" marL="0">
              <a:buNone/>
            </a:pPr>
            <a:r>
              <a:rPr lang="en-US" sz="1800" b="1" dirty="0">
                <a:solidFill>
                  <a:schemeClr val="bg1"/>
                </a:solidFill>
              </a:rPr>
              <a:t>Research</a:t>
            </a:r>
            <a:endParaRPr lang="en-US" sz="1800" dirty="0"/>
          </a:p>
        </p:txBody>
      </p:sp>
      <p:sp>
        <p:nvSpPr>
          <p:cNvPr id="10" name="Timeline desc 1"/>
          <p:cNvSpPr txBox="1"/>
          <p:nvPr/>
        </p:nvSpPr>
        <p:spPr>
          <a:xfrm>
            <a:off x="594360" y="2971800"/>
            <a:ext cx="1737360" cy="914400"/>
          </a:xfrm>
          <a:prstGeom prst="rect">
            <a:avLst/>
          </a:prstGeom>
          <a:noFill/>
          <a:ln/>
        </p:spPr>
        <p:txBody>
          <a:bodyPr wrap="square" lIns="0" tIns="0" rIns="0" bIns="0" rtlCol="0" anchor="t"/>
          <a:lstStyle/>
          <a:p>
            <a:pPr algn="ctr" indent="0" marL="0">
              <a:buNone/>
            </a:pPr>
            <a:r>
              <a:rPr lang="en-US" sz="1400" dirty="0">
                <a:solidFill>
                  <a:schemeClr val="bg2"/>
                </a:solidFill>
              </a:rPr>
              <a:t>Attackers found an employee’s details online</a:t>
            </a:r>
            <a:endParaRPr lang="en-US" sz="1400" dirty="0"/>
          </a:p>
        </p:txBody>
      </p:sp>
      <p:sp>
        <p:nvSpPr>
          <p:cNvPr id="11" name="Timeline dot 2"/>
          <p:cNvSpPr/>
          <p:nvPr/>
        </p:nvSpPr>
        <p:spPr>
          <a:xfrm>
            <a:off x="3246120" y="1874520"/>
            <a:ext cx="548640" cy="548640"/>
          </a:xfrm>
          <a:prstGeom prst="ellipse">
            <a:avLst/>
          </a:prstGeom>
          <a:solidFill>
            <a:schemeClr val="accent1"/>
          </a:solidFill>
          <a:ln w="38100">
            <a:solidFill>
              <a:schemeClr val="tx1"/>
            </a:solidFill>
            <a:prstDash val="solid"/>
          </a:ln>
        </p:spPr>
      </p:sp>
      <p:sp>
        <p:nvSpPr>
          <p:cNvPr id="12" name="Timeline num 2"/>
          <p:cNvSpPr txBox="1"/>
          <p:nvPr/>
        </p:nvSpPr>
        <p:spPr>
          <a:xfrm>
            <a:off x="3246120" y="187452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3" name="Timeline title 2"/>
          <p:cNvSpPr txBox="1"/>
          <p:nvPr/>
        </p:nvSpPr>
        <p:spPr>
          <a:xfrm>
            <a:off x="2606040" y="2606040"/>
            <a:ext cx="1828800" cy="320040"/>
          </a:xfrm>
          <a:prstGeom prst="rect">
            <a:avLst/>
          </a:prstGeom>
          <a:noFill/>
          <a:ln/>
        </p:spPr>
        <p:txBody>
          <a:bodyPr wrap="square" lIns="0" tIns="0" rIns="0" bIns="0" rtlCol="0" anchor="ctr"/>
          <a:lstStyle/>
          <a:p>
            <a:pPr algn="ctr" indent="0" marL="0">
              <a:buNone/>
            </a:pPr>
            <a:r>
              <a:rPr lang="en-US" sz="1800" b="1" dirty="0">
                <a:solidFill>
                  <a:schemeClr val="bg1"/>
                </a:solidFill>
              </a:rPr>
              <a:t>The call</a:t>
            </a:r>
            <a:endParaRPr lang="en-US" sz="1800" dirty="0"/>
          </a:p>
        </p:txBody>
      </p:sp>
      <p:sp>
        <p:nvSpPr>
          <p:cNvPr id="14" name="Timeline desc 2"/>
          <p:cNvSpPr txBox="1"/>
          <p:nvPr/>
        </p:nvSpPr>
        <p:spPr>
          <a:xfrm>
            <a:off x="2651760" y="2971800"/>
            <a:ext cx="1737360" cy="914400"/>
          </a:xfrm>
          <a:prstGeom prst="rect">
            <a:avLst/>
          </a:prstGeom>
          <a:noFill/>
          <a:ln/>
        </p:spPr>
        <p:txBody>
          <a:bodyPr wrap="square" lIns="0" tIns="0" rIns="0" bIns="0" rtlCol="0" anchor="t"/>
          <a:lstStyle/>
          <a:p>
            <a:pPr algn="ctr" indent="0" marL="0">
              <a:buNone/>
            </a:pPr>
            <a:r>
              <a:rPr lang="en-US" sz="1400" dirty="0">
                <a:solidFill>
                  <a:schemeClr val="bg2"/>
                </a:solidFill>
              </a:rPr>
              <a:t>They phoned the help desk posing as that employee</a:t>
            </a:r>
            <a:endParaRPr lang="en-US" sz="1400" dirty="0"/>
          </a:p>
        </p:txBody>
      </p:sp>
      <p:sp>
        <p:nvSpPr>
          <p:cNvPr id="15" name="Timeline dot 3"/>
          <p:cNvSpPr/>
          <p:nvPr/>
        </p:nvSpPr>
        <p:spPr>
          <a:xfrm>
            <a:off x="5303520" y="1874520"/>
            <a:ext cx="548640" cy="548640"/>
          </a:xfrm>
          <a:prstGeom prst="ellipse">
            <a:avLst/>
          </a:prstGeom>
          <a:solidFill>
            <a:schemeClr val="accent1"/>
          </a:solidFill>
          <a:ln w="38100">
            <a:solidFill>
              <a:schemeClr val="tx1"/>
            </a:solidFill>
            <a:prstDash val="solid"/>
          </a:ln>
        </p:spPr>
      </p:sp>
      <p:sp>
        <p:nvSpPr>
          <p:cNvPr id="16" name="Timeline num 3"/>
          <p:cNvSpPr txBox="1"/>
          <p:nvPr/>
        </p:nvSpPr>
        <p:spPr>
          <a:xfrm>
            <a:off x="5303520" y="187452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7" name="Timeline title 3"/>
          <p:cNvSpPr txBox="1"/>
          <p:nvPr/>
        </p:nvSpPr>
        <p:spPr>
          <a:xfrm>
            <a:off x="4663440" y="2606040"/>
            <a:ext cx="1828800" cy="320040"/>
          </a:xfrm>
          <a:prstGeom prst="rect">
            <a:avLst/>
          </a:prstGeom>
          <a:noFill/>
          <a:ln/>
        </p:spPr>
        <p:txBody>
          <a:bodyPr wrap="square" lIns="0" tIns="0" rIns="0" bIns="0" rtlCol="0" anchor="ctr"/>
          <a:lstStyle/>
          <a:p>
            <a:pPr algn="ctr" indent="0" marL="0">
              <a:buNone/>
            </a:pPr>
            <a:r>
              <a:rPr lang="en-US" sz="1800" b="1" dirty="0">
                <a:solidFill>
                  <a:schemeClr val="bg1"/>
                </a:solidFill>
              </a:rPr>
              <a:t>The reset</a:t>
            </a:r>
            <a:endParaRPr lang="en-US" sz="1800" dirty="0"/>
          </a:p>
        </p:txBody>
      </p:sp>
      <p:sp>
        <p:nvSpPr>
          <p:cNvPr id="18" name="Timeline desc 3"/>
          <p:cNvSpPr txBox="1"/>
          <p:nvPr/>
        </p:nvSpPr>
        <p:spPr>
          <a:xfrm>
            <a:off x="4709160" y="2971800"/>
            <a:ext cx="1737360" cy="914400"/>
          </a:xfrm>
          <a:prstGeom prst="rect">
            <a:avLst/>
          </a:prstGeom>
          <a:noFill/>
          <a:ln/>
        </p:spPr>
        <p:txBody>
          <a:bodyPr wrap="square" lIns="0" tIns="0" rIns="0" bIns="0" rtlCol="0" anchor="t"/>
          <a:lstStyle/>
          <a:p>
            <a:pPr algn="ctr" indent="0" marL="0">
              <a:buNone/>
            </a:pPr>
            <a:r>
              <a:rPr lang="en-US" sz="1400" dirty="0">
                <a:solidFill>
                  <a:schemeClr val="bg2"/>
                </a:solidFill>
              </a:rPr>
              <a:t>Access was reset without strong verification</a:t>
            </a:r>
            <a:endParaRPr lang="en-US" sz="1400" dirty="0"/>
          </a:p>
        </p:txBody>
      </p:sp>
      <p:sp>
        <p:nvSpPr>
          <p:cNvPr id="19" name="Timeline dot 4"/>
          <p:cNvSpPr/>
          <p:nvPr/>
        </p:nvSpPr>
        <p:spPr>
          <a:xfrm>
            <a:off x="7360920" y="1874520"/>
            <a:ext cx="548640" cy="548640"/>
          </a:xfrm>
          <a:prstGeom prst="ellipse">
            <a:avLst/>
          </a:prstGeom>
          <a:solidFill>
            <a:schemeClr val="accent3"/>
          </a:solidFill>
          <a:ln w="38100">
            <a:solidFill>
              <a:schemeClr val="tx1"/>
            </a:solidFill>
            <a:prstDash val="solid"/>
          </a:ln>
        </p:spPr>
      </p:sp>
      <p:sp>
        <p:nvSpPr>
          <p:cNvPr id="20" name="Timeline num 4"/>
          <p:cNvSpPr txBox="1"/>
          <p:nvPr/>
        </p:nvSpPr>
        <p:spPr>
          <a:xfrm>
            <a:off x="7360920" y="187452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1" name="Timeline title 4"/>
          <p:cNvSpPr txBox="1"/>
          <p:nvPr/>
        </p:nvSpPr>
        <p:spPr>
          <a:xfrm>
            <a:off x="6720840" y="2606040"/>
            <a:ext cx="1828800" cy="320040"/>
          </a:xfrm>
          <a:prstGeom prst="rect">
            <a:avLst/>
          </a:prstGeom>
          <a:noFill/>
          <a:ln/>
        </p:spPr>
        <p:txBody>
          <a:bodyPr wrap="square" lIns="0" tIns="0" rIns="0" bIns="0" rtlCol="0" anchor="ctr"/>
          <a:lstStyle/>
          <a:p>
            <a:pPr algn="ctr" indent="0" marL="0">
              <a:buNone/>
            </a:pPr>
            <a:r>
              <a:rPr lang="en-US" sz="1800" b="1" dirty="0">
                <a:solidFill>
                  <a:schemeClr val="bg1"/>
                </a:solidFill>
              </a:rPr>
              <a:t>The fallout</a:t>
            </a:r>
            <a:endParaRPr lang="en-US" sz="1800" dirty="0"/>
          </a:p>
        </p:txBody>
      </p:sp>
      <p:sp>
        <p:nvSpPr>
          <p:cNvPr id="22" name="Timeline desc 4"/>
          <p:cNvSpPr txBox="1"/>
          <p:nvPr/>
        </p:nvSpPr>
        <p:spPr>
          <a:xfrm>
            <a:off x="6766560" y="2971800"/>
            <a:ext cx="1737360" cy="914400"/>
          </a:xfrm>
          <a:prstGeom prst="rect">
            <a:avLst/>
          </a:prstGeom>
          <a:noFill/>
          <a:ln/>
        </p:spPr>
        <p:txBody>
          <a:bodyPr wrap="square" lIns="0" tIns="0" rIns="0" bIns="0" rtlCol="0" anchor="t"/>
          <a:lstStyle/>
          <a:p>
            <a:pPr algn="ctr" indent="0" marL="0">
              <a:buNone/>
            </a:pPr>
            <a:r>
              <a:rPr lang="en-US" sz="1400" dirty="0">
                <a:solidFill>
                  <a:schemeClr val="bg2"/>
                </a:solidFill>
              </a:rPr>
              <a:t>Ransomware hit; MGM reported about $100M impact</a:t>
            </a:r>
            <a:endParaRPr lang="en-US" sz="1400" dirty="0"/>
          </a:p>
        </p:txBody>
      </p:sp>
      <p:sp>
        <p:nvSpPr>
          <p:cNvPr id="23" name="Lesson bar"/>
          <p:cNvSpPr/>
          <p:nvPr/>
        </p:nvSpPr>
        <p:spPr>
          <a:xfrm>
            <a:off x="548640" y="4069080"/>
            <a:ext cx="8046720" cy="640080"/>
          </a:xfrm>
          <a:prstGeom prst="roundRect">
            <a:avLst>
              <a:gd name="adj" fmla="val 17143"/>
            </a:avLst>
          </a:prstGeom>
          <a:solidFill>
            <a:schemeClr val="accent1">
              <a:alpha val="15000"/>
            </a:schemeClr>
          </a:solidFill>
          <a:ln w="12700">
            <a:solidFill>
              <a:schemeClr val="accent1"/>
            </a:solidFill>
            <a:prstDash val="solid"/>
          </a:ln>
        </p:spPr>
      </p:sp>
      <p:sp>
        <p:nvSpPr>
          <p:cNvPr id="24" name="Lesson text"/>
          <p:cNvSpPr txBox="1"/>
          <p:nvPr/>
        </p:nvSpPr>
        <p:spPr>
          <a:xfrm>
            <a:off x="822960" y="4069080"/>
            <a:ext cx="7498080" cy="640080"/>
          </a:xfrm>
          <a:prstGeom prst="rect">
            <a:avLst/>
          </a:prstGeom>
          <a:noFill/>
          <a:ln/>
        </p:spPr>
        <p:txBody>
          <a:bodyPr wrap="square" lIns="0" tIns="0" rIns="0" bIns="0" rtlCol="0" anchor="ctr"/>
          <a:lstStyle/>
          <a:p>
            <a:pPr indent="0" marL="0">
              <a:buNone/>
            </a:pPr>
            <a:r>
              <a:rPr lang="en-US" sz="1600" b="1" dirty="0">
                <a:solidFill>
                  <a:schemeClr val="accent1"/>
                </a:solidFill>
              </a:rPr>
              <a:t>Lesson: </a:t>
            </a:r>
            <a:pPr indent="0" marL="0">
              <a:buNone/>
            </a:pPr>
            <a:r>
              <a:rPr lang="en-US" sz="1600" dirty="0">
                <a:solidFill>
                  <a:schemeClr val="bg1"/>
                </a:solidFill>
              </a:rPr>
              <a:t>verify identity before every reset — no exceptions.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label"/>
          <p:cNvSpPr txBox="1"/>
          <p:nvPr/>
        </p:nvSpPr>
        <p:spPr>
          <a:xfrm>
            <a:off x="548640" y="256032"/>
            <a:ext cx="804672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WHEN IT GOES WRONG</a:t>
            </a:r>
            <a:endParaRPr lang="en-US" sz="1100" dirty="0"/>
          </a:p>
        </p:txBody>
      </p:sp>
      <p:sp>
        <p:nvSpPr>
          <p:cNvPr id="3" name="Text 1"/>
          <p:cNvSpPr/>
          <p:nvPr>
            <p:ph idx="101" type="title" hasCustomPrompt="1"/>
          </p:nvPr>
        </p:nvSpPr>
        <p:spPr>
          <a:xfrm>
            <a:off x="548640" y="502920"/>
            <a:ext cx="8046720" cy="640080"/>
          </a:xfrm>
          <a:prstGeom prst="rect">
            <a:avLst/>
          </a:prstGeom>
          <a:noFill/>
          <a:ln/>
        </p:spPr>
        <p:txBody>
          <a:bodyPr wrap="square" lIns="0" tIns="0" rIns="0" bIns="0" rtlCol="0" anchor="ctr"/>
          <a:lstStyle/>
          <a:p>
            <a:pPr algn="l" indent="0" marL="0">
              <a:buNone/>
            </a:pPr>
            <a:r>
              <a:rPr lang="en-US" sz="3400" b="1" dirty="0">
                <a:solidFill>
                  <a:schemeClr val="bg1"/>
                </a:solidFill>
              </a:rPr>
              <a:t>Something Looks Off? Do This</a:t>
            </a:r>
            <a:endParaRPr lang="en-US" sz="3400" dirty="0"/>
          </a:p>
        </p:txBody>
      </p:sp>
      <p:sp>
        <p:nvSpPr>
          <p:cNvPr id="5" name="Step card 1"/>
          <p:cNvSpPr/>
          <p:nvPr/>
        </p:nvSpPr>
        <p:spPr>
          <a:xfrm>
            <a:off x="548640" y="1417320"/>
            <a:ext cx="1874520" cy="2468880"/>
          </a:xfrm>
          <a:prstGeom prst="roundRect">
            <a:avLst>
              <a:gd name="adj" fmla="val 5854"/>
            </a:avLst>
          </a:prstGeom>
          <a:solidFill>
            <a:schemeClr val="tx2"/>
          </a:solidFill>
          <a:ln w="12700">
            <a:solidFill>
              <a:schemeClr val="tx2"/>
            </a:solidFill>
            <a:prstDash val="solid"/>
          </a:ln>
        </p:spPr>
      </p:sp>
      <p:sp>
        <p:nvSpPr>
          <p:cNvPr id="6" name="Step num 1"/>
          <p:cNvSpPr txBox="1"/>
          <p:nvPr/>
        </p:nvSpPr>
        <p:spPr>
          <a:xfrm>
            <a:off x="731520" y="1554480"/>
            <a:ext cx="1508760" cy="731520"/>
          </a:xfrm>
          <a:prstGeom prst="rect">
            <a:avLst/>
          </a:prstGeom>
          <a:noFill/>
          <a:ln/>
        </p:spPr>
        <p:txBody>
          <a:bodyPr wrap="square" lIns="0" tIns="0" rIns="0" bIns="0" rtlCol="0" anchor="ctr"/>
          <a:lstStyle/>
          <a:p>
            <a:pPr indent="0" marL="0">
              <a:buNone/>
            </a:pPr>
            <a:r>
              <a:rPr lang="en-US" sz="4400" b="1" dirty="0">
                <a:solidFill>
                  <a:schemeClr val="accent1"/>
                </a:solidFill>
              </a:rPr>
              <a:t>1</a:t>
            </a:r>
            <a:endParaRPr lang="en-US" sz="4400" dirty="0"/>
          </a:p>
        </p:txBody>
      </p:sp>
      <p:sp>
        <p:nvSpPr>
          <p:cNvPr id="7" name="Step title 1"/>
          <p:cNvSpPr txBox="1"/>
          <p:nvPr/>
        </p:nvSpPr>
        <p:spPr>
          <a:xfrm>
            <a:off x="731520" y="2331720"/>
            <a:ext cx="1554480" cy="365760"/>
          </a:xfrm>
          <a:prstGeom prst="rect">
            <a:avLst/>
          </a:prstGeom>
          <a:noFill/>
          <a:ln/>
        </p:spPr>
        <p:txBody>
          <a:bodyPr wrap="square" lIns="0" tIns="0" rIns="0" bIns="0" rtlCol="0" anchor="ctr"/>
          <a:lstStyle/>
          <a:p>
            <a:pPr indent="0" marL="0">
              <a:buNone/>
            </a:pPr>
            <a:r>
              <a:rPr lang="en-US" sz="1800" b="1" dirty="0">
                <a:solidFill>
                  <a:schemeClr val="bg1"/>
                </a:solidFill>
              </a:rPr>
              <a:t>Stop</a:t>
            </a:r>
            <a:endParaRPr lang="en-US" sz="1800" dirty="0"/>
          </a:p>
        </p:txBody>
      </p:sp>
      <p:sp>
        <p:nvSpPr>
          <p:cNvPr id="8" name="Step desc 1"/>
          <p:cNvSpPr txBox="1"/>
          <p:nvPr/>
        </p:nvSpPr>
        <p:spPr>
          <a:xfrm>
            <a:off x="731520" y="2743200"/>
            <a:ext cx="1554480" cy="1005840"/>
          </a:xfrm>
          <a:prstGeom prst="rect">
            <a:avLst/>
          </a:prstGeom>
          <a:noFill/>
          <a:ln/>
        </p:spPr>
        <p:txBody>
          <a:bodyPr wrap="square" lIns="0" tIns="0" rIns="0" bIns="0" rtlCol="0" anchor="t"/>
          <a:lstStyle/>
          <a:p>
            <a:pPr indent="0" marL="0">
              <a:buNone/>
            </a:pPr>
            <a:r>
              <a:rPr lang="en-US" sz="1400" dirty="0">
                <a:solidFill>
                  <a:schemeClr val="bg2"/>
                </a:solidFill>
              </a:rPr>
              <a:t>Take a breath. Don’t rush.</a:t>
            </a:r>
            <a:endParaRPr lang="en-US" sz="1400" dirty="0"/>
          </a:p>
        </p:txBody>
      </p:sp>
      <p:sp>
        <p:nvSpPr>
          <p:cNvPr id="9" name="Step card 2"/>
          <p:cNvSpPr/>
          <p:nvPr/>
        </p:nvSpPr>
        <p:spPr>
          <a:xfrm>
            <a:off x="2606040" y="1417320"/>
            <a:ext cx="1874520" cy="2468880"/>
          </a:xfrm>
          <a:prstGeom prst="roundRect">
            <a:avLst>
              <a:gd name="adj" fmla="val 5854"/>
            </a:avLst>
          </a:prstGeom>
          <a:solidFill>
            <a:schemeClr val="tx2"/>
          </a:solidFill>
          <a:ln w="12700">
            <a:solidFill>
              <a:schemeClr val="tx2"/>
            </a:solidFill>
            <a:prstDash val="solid"/>
          </a:ln>
        </p:spPr>
      </p:sp>
      <p:sp>
        <p:nvSpPr>
          <p:cNvPr id="10" name="Step num 2"/>
          <p:cNvSpPr txBox="1"/>
          <p:nvPr/>
        </p:nvSpPr>
        <p:spPr>
          <a:xfrm>
            <a:off x="2788920" y="1554480"/>
            <a:ext cx="1508760" cy="731520"/>
          </a:xfrm>
          <a:prstGeom prst="rect">
            <a:avLst/>
          </a:prstGeom>
          <a:noFill/>
          <a:ln/>
        </p:spPr>
        <p:txBody>
          <a:bodyPr wrap="square" lIns="0" tIns="0" rIns="0" bIns="0" rtlCol="0" anchor="ctr"/>
          <a:lstStyle/>
          <a:p>
            <a:pPr indent="0" marL="0">
              <a:buNone/>
            </a:pPr>
            <a:r>
              <a:rPr lang="en-US" sz="4400" b="1" dirty="0">
                <a:solidFill>
                  <a:schemeClr val="accent1"/>
                </a:solidFill>
              </a:rPr>
              <a:t>2</a:t>
            </a:r>
            <a:endParaRPr lang="en-US" sz="4400" dirty="0"/>
          </a:p>
        </p:txBody>
      </p:sp>
      <p:sp>
        <p:nvSpPr>
          <p:cNvPr id="11" name="Step title 2"/>
          <p:cNvSpPr txBox="1"/>
          <p:nvPr/>
        </p:nvSpPr>
        <p:spPr>
          <a:xfrm>
            <a:off x="2788920" y="2331720"/>
            <a:ext cx="1554480" cy="365760"/>
          </a:xfrm>
          <a:prstGeom prst="rect">
            <a:avLst/>
          </a:prstGeom>
          <a:noFill/>
          <a:ln/>
        </p:spPr>
        <p:txBody>
          <a:bodyPr wrap="square" lIns="0" tIns="0" rIns="0" bIns="0" rtlCol="0" anchor="ctr"/>
          <a:lstStyle/>
          <a:p>
            <a:pPr indent="0" marL="0">
              <a:buNone/>
            </a:pPr>
            <a:r>
              <a:rPr lang="en-US" sz="1800" b="1" dirty="0">
                <a:solidFill>
                  <a:schemeClr val="bg1"/>
                </a:solidFill>
              </a:rPr>
              <a:t>Don’t click</a:t>
            </a:r>
            <a:endParaRPr lang="en-US" sz="1800" dirty="0"/>
          </a:p>
        </p:txBody>
      </p:sp>
      <p:sp>
        <p:nvSpPr>
          <p:cNvPr id="12" name="Step desc 2"/>
          <p:cNvSpPr txBox="1"/>
          <p:nvPr/>
        </p:nvSpPr>
        <p:spPr>
          <a:xfrm>
            <a:off x="2788920" y="2743200"/>
            <a:ext cx="1554480" cy="1005840"/>
          </a:xfrm>
          <a:prstGeom prst="rect">
            <a:avLst/>
          </a:prstGeom>
          <a:noFill/>
          <a:ln/>
        </p:spPr>
        <p:txBody>
          <a:bodyPr wrap="square" lIns="0" tIns="0" rIns="0" bIns="0" rtlCol="0" anchor="t"/>
          <a:lstStyle/>
          <a:p>
            <a:pPr indent="0" marL="0">
              <a:buNone/>
            </a:pPr>
            <a:r>
              <a:rPr lang="en-US" sz="1400" dirty="0">
                <a:solidFill>
                  <a:schemeClr val="bg2"/>
                </a:solidFill>
              </a:rPr>
              <a:t>Leave links, files and replies alone.</a:t>
            </a:r>
            <a:endParaRPr lang="en-US" sz="1400" dirty="0"/>
          </a:p>
        </p:txBody>
      </p:sp>
      <p:sp>
        <p:nvSpPr>
          <p:cNvPr id="13" name="Step card 3"/>
          <p:cNvSpPr/>
          <p:nvPr/>
        </p:nvSpPr>
        <p:spPr>
          <a:xfrm>
            <a:off x="4663440" y="1417320"/>
            <a:ext cx="1874520" cy="2468880"/>
          </a:xfrm>
          <a:prstGeom prst="roundRect">
            <a:avLst>
              <a:gd name="adj" fmla="val 5854"/>
            </a:avLst>
          </a:prstGeom>
          <a:solidFill>
            <a:schemeClr val="tx2"/>
          </a:solidFill>
          <a:ln w="12700">
            <a:solidFill>
              <a:schemeClr val="tx2"/>
            </a:solidFill>
            <a:prstDash val="solid"/>
          </a:ln>
        </p:spPr>
      </p:sp>
      <p:sp>
        <p:nvSpPr>
          <p:cNvPr id="14" name="Step num 3"/>
          <p:cNvSpPr txBox="1"/>
          <p:nvPr/>
        </p:nvSpPr>
        <p:spPr>
          <a:xfrm>
            <a:off x="4846320" y="1554480"/>
            <a:ext cx="1508760" cy="731520"/>
          </a:xfrm>
          <a:prstGeom prst="rect">
            <a:avLst/>
          </a:prstGeom>
          <a:noFill/>
          <a:ln/>
        </p:spPr>
        <p:txBody>
          <a:bodyPr wrap="square" lIns="0" tIns="0" rIns="0" bIns="0" rtlCol="0" anchor="ctr"/>
          <a:lstStyle/>
          <a:p>
            <a:pPr indent="0" marL="0">
              <a:buNone/>
            </a:pPr>
            <a:r>
              <a:rPr lang="en-US" sz="4400" b="1" dirty="0">
                <a:solidFill>
                  <a:schemeClr val="accent1"/>
                </a:solidFill>
              </a:rPr>
              <a:t>3</a:t>
            </a:r>
            <a:endParaRPr lang="en-US" sz="4400" dirty="0"/>
          </a:p>
        </p:txBody>
      </p:sp>
      <p:sp>
        <p:nvSpPr>
          <p:cNvPr id="15" name="Step title 3"/>
          <p:cNvSpPr txBox="1"/>
          <p:nvPr/>
        </p:nvSpPr>
        <p:spPr>
          <a:xfrm>
            <a:off x="4846320" y="2331720"/>
            <a:ext cx="1554480" cy="365760"/>
          </a:xfrm>
          <a:prstGeom prst="rect">
            <a:avLst/>
          </a:prstGeom>
          <a:noFill/>
          <a:ln/>
        </p:spPr>
        <p:txBody>
          <a:bodyPr wrap="square" lIns="0" tIns="0" rIns="0" bIns="0" rtlCol="0" anchor="ctr"/>
          <a:lstStyle/>
          <a:p>
            <a:pPr indent="0" marL="0">
              <a:buNone/>
            </a:pPr>
            <a:r>
              <a:rPr lang="en-US" sz="1800" b="1" dirty="0">
                <a:solidFill>
                  <a:schemeClr val="bg1"/>
                </a:solidFill>
              </a:rPr>
              <a:t>Report it</a:t>
            </a:r>
            <a:endParaRPr lang="en-US" sz="1800" dirty="0"/>
          </a:p>
        </p:txBody>
      </p:sp>
      <p:sp>
        <p:nvSpPr>
          <p:cNvPr id="16" name="Step desc 3"/>
          <p:cNvSpPr txBox="1"/>
          <p:nvPr/>
        </p:nvSpPr>
        <p:spPr>
          <a:xfrm>
            <a:off x="4846320" y="2743200"/>
            <a:ext cx="1554480" cy="1005840"/>
          </a:xfrm>
          <a:prstGeom prst="rect">
            <a:avLst/>
          </a:prstGeom>
          <a:noFill/>
          <a:ln/>
        </p:spPr>
        <p:txBody>
          <a:bodyPr wrap="square" lIns="0" tIns="0" rIns="0" bIns="0" rtlCol="0" anchor="t"/>
          <a:lstStyle/>
          <a:p>
            <a:pPr indent="0" marL="0">
              <a:buNone/>
            </a:pPr>
            <a:r>
              <a:rPr lang="en-US" sz="1400" dirty="0">
                <a:solidFill>
                  <a:schemeClr val="bg2"/>
                </a:solidFill>
              </a:rPr>
              <a:t>Use the report button or call IT.</a:t>
            </a:r>
            <a:endParaRPr lang="en-US" sz="1400" dirty="0"/>
          </a:p>
        </p:txBody>
      </p:sp>
      <p:sp>
        <p:nvSpPr>
          <p:cNvPr id="17" name="Step card 4"/>
          <p:cNvSpPr/>
          <p:nvPr/>
        </p:nvSpPr>
        <p:spPr>
          <a:xfrm>
            <a:off x="6720840" y="1417320"/>
            <a:ext cx="1874520" cy="2468880"/>
          </a:xfrm>
          <a:prstGeom prst="roundRect">
            <a:avLst>
              <a:gd name="adj" fmla="val 5854"/>
            </a:avLst>
          </a:prstGeom>
          <a:solidFill>
            <a:schemeClr val="tx2"/>
          </a:solidFill>
          <a:ln w="12700">
            <a:solidFill>
              <a:schemeClr val="tx2"/>
            </a:solidFill>
            <a:prstDash val="solid"/>
          </a:ln>
        </p:spPr>
      </p:sp>
      <p:sp>
        <p:nvSpPr>
          <p:cNvPr id="18" name="Step num 4"/>
          <p:cNvSpPr txBox="1"/>
          <p:nvPr/>
        </p:nvSpPr>
        <p:spPr>
          <a:xfrm>
            <a:off x="6903720" y="1554480"/>
            <a:ext cx="1508760" cy="731520"/>
          </a:xfrm>
          <a:prstGeom prst="rect">
            <a:avLst/>
          </a:prstGeom>
          <a:noFill/>
          <a:ln/>
        </p:spPr>
        <p:txBody>
          <a:bodyPr wrap="square" lIns="0" tIns="0" rIns="0" bIns="0" rtlCol="0" anchor="ctr"/>
          <a:lstStyle/>
          <a:p>
            <a:pPr indent="0" marL="0">
              <a:buNone/>
            </a:pPr>
            <a:r>
              <a:rPr lang="en-US" sz="4400" b="1" dirty="0">
                <a:solidFill>
                  <a:schemeClr val="accent1"/>
                </a:solidFill>
              </a:rPr>
              <a:t>4</a:t>
            </a:r>
            <a:endParaRPr lang="en-US" sz="4400" dirty="0"/>
          </a:p>
        </p:txBody>
      </p:sp>
      <p:sp>
        <p:nvSpPr>
          <p:cNvPr id="19" name="Step title 4"/>
          <p:cNvSpPr txBox="1"/>
          <p:nvPr/>
        </p:nvSpPr>
        <p:spPr>
          <a:xfrm>
            <a:off x="6903720" y="2331720"/>
            <a:ext cx="1554480" cy="365760"/>
          </a:xfrm>
          <a:prstGeom prst="rect">
            <a:avLst/>
          </a:prstGeom>
          <a:noFill/>
          <a:ln/>
        </p:spPr>
        <p:txBody>
          <a:bodyPr wrap="square" lIns="0" tIns="0" rIns="0" bIns="0" rtlCol="0" anchor="ctr"/>
          <a:lstStyle/>
          <a:p>
            <a:pPr indent="0" marL="0">
              <a:buNone/>
            </a:pPr>
            <a:r>
              <a:rPr lang="en-US" sz="1800" b="1" dirty="0">
                <a:solidFill>
                  <a:schemeClr val="bg1"/>
                </a:solidFill>
              </a:rPr>
              <a:t>Change &amp; watch</a:t>
            </a:r>
            <a:endParaRPr lang="en-US" sz="1800" dirty="0"/>
          </a:p>
        </p:txBody>
      </p:sp>
      <p:sp>
        <p:nvSpPr>
          <p:cNvPr id="20" name="Step desc 4"/>
          <p:cNvSpPr txBox="1"/>
          <p:nvPr/>
        </p:nvSpPr>
        <p:spPr>
          <a:xfrm>
            <a:off x="6903720" y="2743200"/>
            <a:ext cx="1554480" cy="1005840"/>
          </a:xfrm>
          <a:prstGeom prst="rect">
            <a:avLst/>
          </a:prstGeom>
          <a:noFill/>
          <a:ln/>
        </p:spPr>
        <p:txBody>
          <a:bodyPr wrap="square" lIns="0" tIns="0" rIns="0" bIns="0" rtlCol="0" anchor="t"/>
          <a:lstStyle/>
          <a:p>
            <a:pPr indent="0" marL="0">
              <a:buNone/>
            </a:pPr>
            <a:r>
              <a:rPr lang="en-US" sz="1400" dirty="0">
                <a:solidFill>
                  <a:schemeClr val="bg2"/>
                </a:solidFill>
              </a:rPr>
              <a:t>Clicked? Reset passwords right away.</a:t>
            </a:r>
            <a:endParaRPr lang="en-US" sz="1400" dirty="0"/>
          </a:p>
        </p:txBody>
      </p:sp>
      <p:sp>
        <p:nvSpPr>
          <p:cNvPr id="21" name="No blame banner"/>
          <p:cNvSpPr/>
          <p:nvPr/>
        </p:nvSpPr>
        <p:spPr>
          <a:xfrm>
            <a:off x="548640" y="4114800"/>
            <a:ext cx="8046720" cy="594360"/>
          </a:xfrm>
          <a:prstGeom prst="roundRect">
            <a:avLst>
              <a:gd name="adj" fmla="val 18462"/>
            </a:avLst>
          </a:prstGeom>
          <a:solidFill>
            <a:schemeClr val="accent2">
              <a:alpha val="15000"/>
            </a:schemeClr>
          </a:solidFill>
          <a:ln w="12700">
            <a:solidFill>
              <a:schemeClr val="accent2"/>
            </a:solidFill>
            <a:prstDash val="solid"/>
          </a:ln>
        </p:spPr>
      </p:sp>
      <p:sp>
        <p:nvSpPr>
          <p:cNvPr id="22" name="Banner text"/>
          <p:cNvSpPr txBox="1"/>
          <p:nvPr/>
        </p:nvSpPr>
        <p:spPr>
          <a:xfrm>
            <a:off x="822960" y="4114800"/>
            <a:ext cx="7498080" cy="594360"/>
          </a:xfrm>
          <a:prstGeom prst="rect">
            <a:avLst/>
          </a:prstGeom>
          <a:noFill/>
          <a:ln/>
        </p:spPr>
        <p:txBody>
          <a:bodyPr wrap="square" lIns="0" tIns="0" rIns="0" bIns="0" rtlCol="0" anchor="ctr"/>
          <a:lstStyle/>
          <a:p>
            <a:pPr indent="0" marL="0">
              <a:buNone/>
            </a:pPr>
            <a:r>
              <a:rPr lang="en-US" sz="1800" b="1" dirty="0">
                <a:solidFill>
                  <a:schemeClr val="accent2"/>
                </a:solidFill>
              </a:rPr>
              <a:t>No blame. Reporting fast is what protects everyone.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label"/>
          <p:cNvSpPr txBox="1"/>
          <p:nvPr/>
        </p:nvSpPr>
        <p:spPr>
          <a:xfrm>
            <a:off x="548640" y="256032"/>
            <a:ext cx="804672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KEY TAKEAWAYS</a:t>
            </a:r>
            <a:endParaRPr lang="en-US" sz="1100" dirty="0"/>
          </a:p>
        </p:txBody>
      </p:sp>
      <p:sp>
        <p:nvSpPr>
          <p:cNvPr id="3" name="Text 1"/>
          <p:cNvSpPr/>
          <p:nvPr>
            <p:ph idx="101" type="title" hasCustomPrompt="1"/>
          </p:nvPr>
        </p:nvSpPr>
        <p:spPr>
          <a:xfrm>
            <a:off x="548640" y="502920"/>
            <a:ext cx="8046720" cy="640080"/>
          </a:xfrm>
          <a:prstGeom prst="rect">
            <a:avLst/>
          </a:prstGeom>
          <a:noFill/>
          <a:ln/>
        </p:spPr>
        <p:txBody>
          <a:bodyPr wrap="square" lIns="0" tIns="0" rIns="0" bIns="0" rtlCol="0" anchor="ctr"/>
          <a:lstStyle/>
          <a:p>
            <a:pPr algn="l" indent="0" marL="0">
              <a:buNone/>
            </a:pPr>
            <a:r>
              <a:rPr lang="en-US" sz="3400" b="1" dirty="0">
                <a:solidFill>
                  <a:schemeClr val="bg1"/>
                </a:solidFill>
              </a:rPr>
              <a:t>Remember These Four Things</a:t>
            </a:r>
            <a:endParaRPr lang="en-US" sz="3400" dirty="0"/>
          </a:p>
        </p:txBody>
      </p:sp>
      <p:sp>
        <p:nvSpPr>
          <p:cNvPr id="5" name="Takeaway 1 badge"/>
          <p:cNvSpPr/>
          <p:nvPr/>
        </p:nvSpPr>
        <p:spPr>
          <a:xfrm>
            <a:off x="548640" y="1417320"/>
            <a:ext cx="640080" cy="640080"/>
          </a:xfrm>
          <a:prstGeom prst="ellipse">
            <a:avLst/>
          </a:prstGeom>
          <a:solidFill>
            <a:schemeClr val="accent1">
              <a:alpha val="20000"/>
            </a:schemeClr>
          </a:solidFill>
          <a:ln w="12700">
            <a:solidFill>
              <a:schemeClr val="accent1"/>
            </a:solidFill>
            <a:prstDash val="solid"/>
          </a:ln>
        </p:spPr>
      </p:sp>
      <p:pic>
        <p:nvPicPr>
          <p:cNvPr id="6" name="Image 0" descr="Takeaway 1 icon">    </p:cNvPr>
          <p:cNvPicPr>
            <a:picLocks noChangeAspect="1"/>
          </p:cNvPicPr>
          <p:nvPr/>
        </p:nvPicPr>
        <p:blipFill>
          <a:blip r:embed="rId1"/>
          <a:stretch>
            <a:fillRect/>
          </a:stretch>
        </p:blipFill>
        <p:spPr>
          <a:xfrm>
            <a:off x="727862" y="1596542"/>
            <a:ext cx="281635" cy="281635"/>
          </a:xfrm>
          <a:prstGeom prst="rect">
            <a:avLst/>
          </a:prstGeom>
        </p:spPr>
      </p:pic>
      <p:sp>
        <p:nvSpPr>
          <p:cNvPr id="7" name="Takeaway text 1"/>
          <p:cNvSpPr txBox="1"/>
          <p:nvPr/>
        </p:nvSpPr>
        <p:spPr>
          <a:xfrm>
            <a:off x="1417320" y="1417320"/>
            <a:ext cx="4206240" cy="640080"/>
          </a:xfrm>
          <a:prstGeom prst="rect">
            <a:avLst/>
          </a:prstGeom>
          <a:noFill/>
          <a:ln/>
        </p:spPr>
        <p:txBody>
          <a:bodyPr wrap="square" lIns="0" tIns="0" rIns="0" bIns="0" rtlCol="0" anchor="ctr"/>
          <a:lstStyle/>
          <a:p>
            <a:pPr indent="0" marL="0">
              <a:buNone/>
            </a:pPr>
            <a:r>
              <a:rPr lang="en-US" sz="2000" b="1" dirty="0">
                <a:solidFill>
                  <a:schemeClr val="bg1"/>
                </a:solidFill>
              </a:rPr>
              <a:t>Pause before you click</a:t>
            </a:r>
            <a:endParaRPr lang="en-US" sz="2000" dirty="0"/>
          </a:p>
        </p:txBody>
      </p:sp>
      <p:sp>
        <p:nvSpPr>
          <p:cNvPr id="8" name="Takeaway 2 badge"/>
          <p:cNvSpPr/>
          <p:nvPr/>
        </p:nvSpPr>
        <p:spPr>
          <a:xfrm>
            <a:off x="548640" y="2240280"/>
            <a:ext cx="640080" cy="640080"/>
          </a:xfrm>
          <a:prstGeom prst="ellipse">
            <a:avLst/>
          </a:prstGeom>
          <a:solidFill>
            <a:schemeClr val="accent1">
              <a:alpha val="20000"/>
            </a:schemeClr>
          </a:solidFill>
          <a:ln w="12700">
            <a:solidFill>
              <a:schemeClr val="accent1"/>
            </a:solidFill>
            <a:prstDash val="solid"/>
          </a:ln>
        </p:spPr>
      </p:sp>
      <p:pic>
        <p:nvPicPr>
          <p:cNvPr id="9" name="Image 1" descr="Takeaway 2 icon">    </p:cNvPr>
          <p:cNvPicPr>
            <a:picLocks noChangeAspect="1"/>
          </p:cNvPicPr>
          <p:nvPr/>
        </p:nvPicPr>
        <p:blipFill>
          <a:blip r:embed="rId2"/>
          <a:stretch>
            <a:fillRect/>
          </a:stretch>
        </p:blipFill>
        <p:spPr>
          <a:xfrm>
            <a:off x="727862" y="2419502"/>
            <a:ext cx="281635" cy="281635"/>
          </a:xfrm>
          <a:prstGeom prst="rect">
            <a:avLst/>
          </a:prstGeom>
        </p:spPr>
      </p:pic>
      <p:sp>
        <p:nvSpPr>
          <p:cNvPr id="10" name="Takeaway text 2"/>
          <p:cNvSpPr txBox="1"/>
          <p:nvPr/>
        </p:nvSpPr>
        <p:spPr>
          <a:xfrm>
            <a:off x="1417320" y="2240280"/>
            <a:ext cx="4206240" cy="640080"/>
          </a:xfrm>
          <a:prstGeom prst="rect">
            <a:avLst/>
          </a:prstGeom>
          <a:noFill/>
          <a:ln/>
        </p:spPr>
        <p:txBody>
          <a:bodyPr wrap="square" lIns="0" tIns="0" rIns="0" bIns="0" rtlCol="0" anchor="ctr"/>
          <a:lstStyle/>
          <a:p>
            <a:pPr indent="0" marL="0">
              <a:buNone/>
            </a:pPr>
            <a:r>
              <a:rPr lang="en-US" sz="2000" b="1" dirty="0">
                <a:solidFill>
                  <a:schemeClr val="bg1"/>
                </a:solidFill>
              </a:rPr>
              <a:t>Unique passphrases + MFA</a:t>
            </a:r>
            <a:endParaRPr lang="en-US" sz="2000" dirty="0"/>
          </a:p>
        </p:txBody>
      </p:sp>
      <p:sp>
        <p:nvSpPr>
          <p:cNvPr id="11" name="Takeaway 3 badge"/>
          <p:cNvSpPr/>
          <p:nvPr/>
        </p:nvSpPr>
        <p:spPr>
          <a:xfrm>
            <a:off x="548640" y="3063240"/>
            <a:ext cx="640080" cy="640080"/>
          </a:xfrm>
          <a:prstGeom prst="ellipse">
            <a:avLst/>
          </a:prstGeom>
          <a:solidFill>
            <a:schemeClr val="accent1">
              <a:alpha val="20000"/>
            </a:schemeClr>
          </a:solidFill>
          <a:ln w="12700">
            <a:solidFill>
              <a:schemeClr val="accent1"/>
            </a:solidFill>
            <a:prstDash val="solid"/>
          </a:ln>
        </p:spPr>
      </p:sp>
      <p:pic>
        <p:nvPicPr>
          <p:cNvPr id="12" name="Image 2" descr="Takeaway 3 icon">    </p:cNvPr>
          <p:cNvPicPr>
            <a:picLocks noChangeAspect="1"/>
          </p:cNvPicPr>
          <p:nvPr/>
        </p:nvPicPr>
        <p:blipFill>
          <a:blip r:embed="rId3"/>
          <a:stretch>
            <a:fillRect/>
          </a:stretch>
        </p:blipFill>
        <p:spPr>
          <a:xfrm>
            <a:off x="727862" y="3242462"/>
            <a:ext cx="281635" cy="281635"/>
          </a:xfrm>
          <a:prstGeom prst="rect">
            <a:avLst/>
          </a:prstGeom>
        </p:spPr>
      </p:pic>
      <p:sp>
        <p:nvSpPr>
          <p:cNvPr id="13" name="Takeaway text 3"/>
          <p:cNvSpPr txBox="1"/>
          <p:nvPr/>
        </p:nvSpPr>
        <p:spPr>
          <a:xfrm>
            <a:off x="1417320" y="3063240"/>
            <a:ext cx="4206240" cy="640080"/>
          </a:xfrm>
          <a:prstGeom prst="rect">
            <a:avLst/>
          </a:prstGeom>
          <a:noFill/>
          <a:ln/>
        </p:spPr>
        <p:txBody>
          <a:bodyPr wrap="square" lIns="0" tIns="0" rIns="0" bIns="0" rtlCol="0" anchor="ctr"/>
          <a:lstStyle/>
          <a:p>
            <a:pPr indent="0" marL="0">
              <a:buNone/>
            </a:pPr>
            <a:r>
              <a:rPr lang="en-US" sz="2000" b="1" dirty="0">
                <a:solidFill>
                  <a:schemeClr val="bg1"/>
                </a:solidFill>
              </a:rPr>
              <a:t>Keep devices updated and locked</a:t>
            </a:r>
            <a:endParaRPr lang="en-US" sz="2000" dirty="0"/>
          </a:p>
        </p:txBody>
      </p:sp>
      <p:sp>
        <p:nvSpPr>
          <p:cNvPr id="14" name="Takeaway 4 badge"/>
          <p:cNvSpPr/>
          <p:nvPr/>
        </p:nvSpPr>
        <p:spPr>
          <a:xfrm>
            <a:off x="548640" y="3886200"/>
            <a:ext cx="640080" cy="640080"/>
          </a:xfrm>
          <a:prstGeom prst="ellipse">
            <a:avLst/>
          </a:prstGeom>
          <a:solidFill>
            <a:schemeClr val="accent1">
              <a:alpha val="20000"/>
            </a:schemeClr>
          </a:solidFill>
          <a:ln w="12700">
            <a:solidFill>
              <a:schemeClr val="accent1"/>
            </a:solidFill>
            <a:prstDash val="solid"/>
          </a:ln>
        </p:spPr>
      </p:sp>
      <p:pic>
        <p:nvPicPr>
          <p:cNvPr id="15" name="Image 3" descr="Takeaway 4 icon">    </p:cNvPr>
          <p:cNvPicPr>
            <a:picLocks noChangeAspect="1"/>
          </p:cNvPicPr>
          <p:nvPr/>
        </p:nvPicPr>
        <p:blipFill>
          <a:blip r:embed="rId4"/>
          <a:stretch>
            <a:fillRect/>
          </a:stretch>
        </p:blipFill>
        <p:spPr>
          <a:xfrm>
            <a:off x="727862" y="4065422"/>
            <a:ext cx="281635" cy="281635"/>
          </a:xfrm>
          <a:prstGeom prst="rect">
            <a:avLst/>
          </a:prstGeom>
        </p:spPr>
      </p:pic>
      <p:sp>
        <p:nvSpPr>
          <p:cNvPr id="16" name="Takeaway text 4"/>
          <p:cNvSpPr txBox="1"/>
          <p:nvPr/>
        </p:nvSpPr>
        <p:spPr>
          <a:xfrm>
            <a:off x="1417320" y="3886200"/>
            <a:ext cx="4206240" cy="640080"/>
          </a:xfrm>
          <a:prstGeom prst="rect">
            <a:avLst/>
          </a:prstGeom>
          <a:noFill/>
          <a:ln/>
        </p:spPr>
        <p:txBody>
          <a:bodyPr wrap="square" lIns="0" tIns="0" rIns="0" bIns="0" rtlCol="0" anchor="ctr"/>
          <a:lstStyle/>
          <a:p>
            <a:pPr indent="0" marL="0">
              <a:buNone/>
            </a:pPr>
            <a:r>
              <a:rPr lang="en-US" sz="2000" b="1" dirty="0">
                <a:solidFill>
                  <a:schemeClr val="bg1"/>
                </a:solidFill>
              </a:rPr>
              <a:t>Report anything odd — fast</a:t>
            </a:r>
            <a:endParaRPr lang="en-US" sz="2000" dirty="0"/>
          </a:p>
        </p:txBody>
      </p:sp>
      <p:sp>
        <p:nvSpPr>
          <p:cNvPr id="17" name="Ring 1"/>
          <p:cNvSpPr/>
          <p:nvPr/>
        </p:nvSpPr>
        <p:spPr>
          <a:xfrm>
            <a:off x="5577840" y="868680"/>
            <a:ext cx="3291840" cy="3291840"/>
          </a:xfrm>
          <a:prstGeom prst="ellipse">
            <a:avLst/>
          </a:prstGeom>
          <a:solidFill>
            <a:schemeClr val="accent1">
              <a:alpha val="8000"/>
            </a:schemeClr>
          </a:solidFill>
          <a:ln w="12700">
            <a:solidFill>
              <a:schemeClr val="accent1"/>
            </a:solidFill>
            <a:prstDash val="solid"/>
          </a:ln>
        </p:spPr>
      </p:sp>
      <p:sp>
        <p:nvSpPr>
          <p:cNvPr id="18" name="Ring 2"/>
          <p:cNvSpPr/>
          <p:nvPr/>
        </p:nvSpPr>
        <p:spPr>
          <a:xfrm>
            <a:off x="5989320" y="1280160"/>
            <a:ext cx="2468880" cy="2468880"/>
          </a:xfrm>
          <a:prstGeom prst="ellipse">
            <a:avLst/>
          </a:prstGeom>
          <a:solidFill>
            <a:schemeClr val="accent1">
              <a:alpha val="12000"/>
            </a:schemeClr>
          </a:solidFill>
          <a:ln w="12700">
            <a:solidFill>
              <a:schemeClr val="accent1"/>
            </a:solidFill>
            <a:prstDash val="solid"/>
          </a:ln>
        </p:spPr>
      </p:sp>
      <p:sp>
        <p:nvSpPr>
          <p:cNvPr id="19" name="Ring 3"/>
          <p:cNvSpPr/>
          <p:nvPr/>
        </p:nvSpPr>
        <p:spPr>
          <a:xfrm>
            <a:off x="6355080" y="1645920"/>
            <a:ext cx="1737360" cy="1737360"/>
          </a:xfrm>
          <a:prstGeom prst="ellipse">
            <a:avLst/>
          </a:prstGeom>
          <a:solidFill>
            <a:schemeClr val="accent1">
              <a:alpha val="16000"/>
            </a:schemeClr>
          </a:solidFill>
          <a:ln w="12700">
            <a:solidFill>
              <a:schemeClr val="accent1"/>
            </a:solidFill>
            <a:prstDash val="solid"/>
          </a:ln>
        </p:spPr>
      </p:sp>
      <p:pic>
        <p:nvPicPr>
          <p:cNvPr id="20" name="Image 4" descr="Shield icon">    </p:cNvPr>
          <p:cNvPicPr>
            <a:picLocks noChangeAspect="1"/>
          </p:cNvPicPr>
          <p:nvPr/>
        </p:nvPicPr>
        <p:blipFill>
          <a:blip r:embed="rId5"/>
          <a:stretch>
            <a:fillRect/>
          </a:stretch>
        </p:blipFill>
        <p:spPr>
          <a:xfrm>
            <a:off x="6812280" y="2103120"/>
            <a:ext cx="822960" cy="822960"/>
          </a:xfrm>
          <a:prstGeom prst="rect">
            <a:avLst/>
          </a:prstGeom>
        </p:spPr>
      </p:pic>
      <p:sp>
        <p:nvSpPr>
          <p:cNvPr id="21" name="Questions"/>
          <p:cNvSpPr txBox="1"/>
          <p:nvPr/>
        </p:nvSpPr>
        <p:spPr>
          <a:xfrm>
            <a:off x="5852160" y="4297680"/>
            <a:ext cx="2743200" cy="365760"/>
          </a:xfrm>
          <a:prstGeom prst="rect">
            <a:avLst/>
          </a:prstGeom>
          <a:noFill/>
          <a:ln/>
        </p:spPr>
        <p:txBody>
          <a:bodyPr wrap="square" lIns="0" tIns="0" rIns="0" bIns="0" rtlCol="0" anchor="ctr"/>
          <a:lstStyle/>
          <a:p>
            <a:pPr algn="ctr" indent="0" marL="0">
              <a:buNone/>
            </a:pPr>
            <a:r>
              <a:rPr lang="en-US" sz="2000" b="1" dirty="0">
                <a:solidFill>
                  <a:schemeClr val="accent1"/>
                </a:solidFill>
              </a:rPr>
              <a:t>Questions?</a:t>
            </a:r>
            <a:endParaRPr lang="en-US" sz="2000" dirty="0"/>
          </a:p>
        </p:txBody>
      </p:sp>
    </p:spTree>
  </p:cSld>
  <p:clrMapOvr>
    <a:masterClrMapping/>
  </p:clrMapOvr>
</p:sld>
</file>

<file path=ppt/theme/theme1.xml><?xml version="1.0" encoding="utf-8"?>
<a:theme xmlns:a="http://schemas.openxmlformats.org/drawingml/2006/main" name="CyberAware">
  <a:themeElements>
    <a:clrScheme name="CyberAware">
      <a:dk1>
        <a:srgbClr val="0B1220"/>
      </a:dk1>
      <a:lt1>
        <a:srgbClr val="F4F8FF"/>
      </a:lt1>
      <a:dk2>
        <a:srgbClr val="16253F"/>
      </a:dk2>
      <a:lt2>
        <a:srgbClr val="A9BCD6"/>
      </a:lt2>
      <a:accent1>
        <a:srgbClr val="22D3EE"/>
      </a:accent1>
      <a:accent2>
        <a:srgbClr val="34D399"/>
      </a:accent2>
      <a:accent3>
        <a:srgbClr val="FF5C7A"/>
      </a:accent3>
      <a:accent4>
        <a:srgbClr val="FBBF24"/>
      </a:accent4>
      <a:accent5>
        <a:srgbClr val="818CF8"/>
      </a:accent5>
      <a:accent6>
        <a:srgbClr val="94A3B8"/>
      </a:accent6>
      <a:hlink>
        <a:srgbClr val="22D3EE"/>
      </a:hlink>
      <a:folHlink>
        <a:srgbClr val="818CF8"/>
      </a:folHlink>
    </a:clrScheme>
    <a:fontScheme name="CyberAwar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Awareness Training Deck</dc:title>
  <dc:subject>PptxGenJS Presentation</dc:subject>
  <dc:creator>PptxGenJS</dc:creator>
  <cp:lastModifiedBy>PptxGenJS</cp:lastModifiedBy>
  <cp:revision>1</cp:revision>
  <dcterms:created xsi:type="dcterms:W3CDTF">2026-10-25T15:19:34Z</dcterms:created>
  <dcterms:modified xsi:type="dcterms:W3CDTF">2026-10-25T15:19:34Z</dcterms:modified>
</cp:coreProperties>
</file>